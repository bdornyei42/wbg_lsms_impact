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75" r:id="rId5"/>
    <p:sldId id="259" r:id="rId6"/>
    <p:sldId id="271" r:id="rId7"/>
    <p:sldId id="272" r:id="rId8"/>
    <p:sldId id="261" r:id="rId9"/>
    <p:sldId id="266" r:id="rId10"/>
    <p:sldId id="263" r:id="rId11"/>
    <p:sldId id="260" r:id="rId12"/>
    <p:sldId id="262" r:id="rId13"/>
    <p:sldId id="268" r:id="rId14"/>
    <p:sldId id="269" r:id="rId15"/>
    <p:sldId id="270" r:id="rId16"/>
    <p:sldId id="267" r:id="rId17"/>
    <p:sldId id="273"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319271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audience and introduce the project in one sentence: this is an automated pipeline that finds every research paper that actually uses LSMS survey data, replacing a manual, spreadsheet based process that used to take significant staff time.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Briefly introduce your background. From Budapest, Hungary. Currently pursuing an M.P.P. in Global Affairs at Yale and about to start an M.S. in Computer Science at Georgia Tech. Completed a dual B.A. in Global Affairs and Statistics and Data Science at Yale, including a study abroad term at Cambridge. Before joining the World Bank, worked at UNICEF's Global Shared Services Centre and at UN Headquarters, plus time at a few startups. Now serving as an LSMS Survey Innovation Fellow, building the pipeline covered in this presentation.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LSMS team needed an objective measure of how much published research actually uses LSMS survey data, and no single metric existed for this. The three headline metrics the branch needs are TOTAL (the full count of papers using an LSMS dataset across all years), FLOW (new papers per World Bank fiscal year), and SHARE (the percentage of papers with an African affiliated author).
Citation counts do not reliably capture data use: a paper can cite the survey without ever touching the microdata, and a paper that does use the data does not always cite it in a way standard citation tracking can find.
A previous, manual version of this tracking existed, but it depended on reviewing papers by hand and building results into a spreadsheet, which made it slow to repeat and hard to keep consistent across reviewers.
On the technical choice: Google Scholar was considered first, but its programmatic access runs through a costly third party API. OpenAlex was selected instead: an open source, comprehensive index of scholarly literature, recommended by a Yale research librarian for peer reviewed coverage. Being open source keeps the API substantially cheaper, approximately $1.60 per full run, and the free tier allows about two runs per day.
The project's core contribution goes beyond keyword search: rather than counting every paper that mentions LSMS, it tries to identify the papers that actually used the data.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9AA8DD-108E-BB33-08C0-A763ADC298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C76FFD-F363-661F-A502-1E0801EDCD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826E8C-BB8C-92FA-3BB3-6802063B9DB9}"/>
              </a:ext>
            </a:extLst>
          </p:cNvPr>
          <p:cNvSpPr>
            <a:spLocks noGrp="1"/>
          </p:cNvSpPr>
          <p:nvPr>
            <p:ph type="body" idx="1"/>
          </p:nvPr>
        </p:nvSpPr>
        <p:spPr/>
        <p:txBody>
          <a:bodyPr/>
          <a:lstStyle/>
          <a:p>
            <a:r>
              <a:rPr lang="en-US" dirty="0"/>
              <a:t>Walk through the figure left to right.
INPUT: The user supplies a free OpenAlex API key. The search runs against 109 keywords across the ten LSMS survey families.
GATE 1, KEYWORD SEARCH: Recall is prioritized over precision at this stage, since missing a paper here is permanent while a false match just gets filtered later. Each keyword is assigned to one of three tiers based on how ambiguous the term is in isolation. Tier A (38 terms) covers unambiguous names like "Uganda National Panel Survey", accepted on a full text match alone. Tier B (28 terms) covers generic real names like "National Panel Survey", which require an LSMS country term and an allowed subject field. Tier C (43 terms) covers short acronyms like "IHPS" or "LSMS", which need the same gating as Tier B plus a case sensitivity check for acronym collisions.
A key precision fix belongs here: OpenAlex applies stemming by default, which treats LSMS as equivalent to LSM, the standard abbreviation for land surface model. For a single fiscal year, the stemmed query returned 13,506 results; the correct, exact match count was 698. The acronym LSMS also collides with a neurological condition and other unrelated multi word phrases, which is why every query runs in exact match mode and Tier C keywords require country and subject field context rather than a bare acronym match.
GATE 2, RELEVANCE SCORING: Every candidate paper is scored on two independent axes, Identity and Use, each on a 2 point threshold, and a paper is retained only if both axes clear the threshold. This design exists because a single combined score let a literature review that merely named the survey three times, written by a World Bank affiliated author, outscore a real empirical study that used the microdata.
Identity signals: survey name in the title or abstract (strong, 2 points); terms matched from two or more survey families (strong, 2 points); admission on an unambiguous Tier A name (strong, 2 points); World Bank affiliated author (weak, 1 point, supporting only).
Use signals: first person data use language within 40 words of the survey name (strong, 2 points); data use language in the abstract alongside the survey name (1 to 2 points depending on specificity); general empirical language with no survey named (capped at 1 point total, cannot carry a finding alone).
EXCLUSION FILTER: Even after both gates, a handful of predictable false positive patterns get filtered out. Transitive citation: the paper cites another paper that uses LSMS data without touching the microdata itself. Survey or meta-analysis inclusion: a broader literature review lists an LSMS using paper among many others without analyzing the microdata directly. Negative or contrastive mention: the survey is named only to argue against it, for example "despite LSMS efforts". Unsupported data citation: the paper lists the dataset as a source but shows no evidence of engaging with it, sometimes a sign the citation was generated without ever using the data.
OUTPUT: One Excel workbook, covered on a later slide.</a:t>
            </a:r>
          </a:p>
        </p:txBody>
      </p:sp>
      <p:sp>
        <p:nvSpPr>
          <p:cNvPr id="4" name="Slide Number Placeholder 3">
            <a:extLst>
              <a:ext uri="{FF2B5EF4-FFF2-40B4-BE49-F238E27FC236}">
                <a16:creationId xmlns:a16="http://schemas.microsoft.com/office/drawing/2014/main" id="{182BAD87-DF55-DB44-5137-7AE2B1138DD7}"/>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3848652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figure left to right.
INPUT: The user supplies a free OpenAlex API key. The search runs against 109 keywords across the ten LSMS survey families.
GATE 1, KEYWORD SEARCH: Recall is prioritized over precision at this stage, since missing a paper here is permanent while a false match just gets filtered later. Each keyword is assigned to one of three tiers based on how ambiguous the term is in isolation. Tier A (38 terms) covers unambiguous names like "Uganda National Panel Survey", accepted on a full text match alone. Tier B (28 terms) covers generic real names like "National Panel Survey", which require an LSMS country term and an allowed subject field. Tier C (43 terms) covers short acronyms like "IHPS" or "LSMS", which need the same gating as Tier B plus a case sensitivity check for acronym collisions.
A key precision fix belongs here: OpenAlex applies stemming by default, which treats LSMS as equivalent to LSM, the standard abbreviation for land surface model. For a single fiscal year, the stemmed query returned 13,506 results; the correct, exact match count was 698. The acronym LSMS also collides with a neurological condition and other unrelated multi word phrases, which is why every query runs in exact match mode and Tier C keywords require country and subject field context rather than a bare acronym match.
GATE 2, RELEVANCE SCORING: Every candidate paper is scored on two independent axes, Identity and Use, each on a 2 point threshold, and a paper is retained only if both axes clear the threshold. This design exists because a single combined score let a literature review that merely named the survey three times, written by a World Bank affiliated author, outscore a real empirical study that used the microdata.
Identity signals: survey name in the title or abstract (strong, 2 points); terms matched from two or more survey families (strong, 2 points); admission on an unambiguous Tier A name (strong, 2 points); World Bank affiliated author (weak, 1 point, supporting only).
Use signals: first person data use language within 40 words of the survey name (strong, 2 points); data use language in the abstract alongside the survey name (1 to 2 points depending on specificity); general empirical language with no survey named (capped at 1 point total, cannot carry a finding alone).
EXCLUSION FILTER: Even after both gates, a handful of predictable false positive patterns get filtered out. Transitive citation: the paper cites another paper that uses LSMS data without touching the microdata itself. Survey or meta-analysis inclusion: a broader literature review lists an LSMS using paper among many others without analyzing the microdata directly. Negative or contrastive mention: the survey is named only to argue against it, for example "despite LSMS efforts". Unsupported data citation: the paper lists the dataset as a source but shows no evidence of engaging with it, sometimes a sign the citation was generated without ever using the data.
OUTPUT: One Excel workbook, covered on a later slide.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985702-4AD8-E198-5268-1CE7FFAE3E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7E448D-A655-D21C-7667-44126AB969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01D136-93AA-7758-682F-C67B4DD74BDC}"/>
              </a:ext>
            </a:extLst>
          </p:cNvPr>
          <p:cNvSpPr>
            <a:spLocks noGrp="1"/>
          </p:cNvSpPr>
          <p:nvPr>
            <p:ph type="body" idx="1"/>
          </p:nvPr>
        </p:nvSpPr>
        <p:spPr/>
        <p:txBody>
          <a:bodyPr/>
          <a:lstStyle/>
          <a:p>
            <a:r>
              <a:rPr lang="en-US" dirty="0"/>
              <a:t>Walk through the figure left to right.
INPUT: The user supplies a free OpenAlex API key. The search runs against 109 keywords across the ten LSMS survey families.
GATE 1, KEYWORD SEARCH: Recall is prioritized over precision at this stage, since missing a paper here is permanent while a false match just gets filtered later. Each keyword is assigned to one of three tiers based on how ambiguous the term is in isolation. Tier A (38 terms) covers unambiguous names like "Uganda National Panel Survey", accepted on a full text match alone. Tier B (28 terms) covers generic real names like "National Panel Survey", which require an LSMS country term and an allowed subject field. Tier C (43 terms) covers short acronyms like "IHPS" or "LSMS", which need the same gating as Tier B plus a case sensitivity check for acronym collisions.
A key precision fix belongs here: OpenAlex applies stemming by default, which treats LSMS as equivalent to LSM, the standard abbreviation for land surface model. For a single fiscal year, the stemmed query returned 13,506 results; the correct, exact match count was 698. The acronym LSMS also collides with a neurological condition and other unrelated multi word phrases, which is why every query runs in exact match mode and Tier C keywords require country and subject field context rather than a bare acronym match.
GATE 2, RELEVANCE SCORING: Every candidate paper is scored on two independent axes, Identity and Use, each on a 2 point threshold, and a paper is retained only if both axes clear the threshold. This design exists because a single combined score let a literature review that merely named the survey three times, written by a World Bank affiliated author, outscore a real empirical study that used the microdata.
Identity signals: survey name in the title or abstract (strong, 2 points); terms matched from two or more survey families (strong, 2 points); admission on an unambiguous Tier A name (strong, 2 points); World Bank affiliated author (weak, 1 point, supporting only).
Use signals: first person data use language within 40 words of the survey name (strong, 2 points); data use language in the abstract alongside the survey name (1 to 2 points depending on specificity); general empirical language with no survey named (capped at 1 point total, cannot carry a finding alone).
EXCLUSION FILTER: Even after both gates, a handful of predictable false positive patterns get filtered out. Transitive citation: the paper cites another paper that uses LSMS data without touching the microdata itself. Survey or meta-analysis inclusion: a broader literature review lists an LSMS using paper among many others without analyzing the microdata directly. Negative or contrastive mention: the survey is named only to argue against it, for example "despite LSMS efforts". Unsupported data citation: the paper lists the dataset as a source but shows no evidence of engaging with it, sometimes a sign the citation was generated without ever using the data.
OUTPUT: One Excel workbook, covered on a later slide.</a:t>
            </a:r>
          </a:p>
        </p:txBody>
      </p:sp>
      <p:sp>
        <p:nvSpPr>
          <p:cNvPr id="4" name="Slide Number Placeholder 3">
            <a:extLst>
              <a:ext uri="{FF2B5EF4-FFF2-40B4-BE49-F238E27FC236}">
                <a16:creationId xmlns:a16="http://schemas.microsoft.com/office/drawing/2014/main" id="{75192828-05AD-3DF4-D05A-8465E65A9ADF}"/>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37851775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09A496-2DBB-F740-F3D0-826488A076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F0AD96-74F4-3BB5-B5EE-A8D9897E18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24C5F4-953A-C811-A5AC-990E206188B6}"/>
              </a:ext>
            </a:extLst>
          </p:cNvPr>
          <p:cNvSpPr>
            <a:spLocks noGrp="1"/>
          </p:cNvSpPr>
          <p:nvPr>
            <p:ph type="body" idx="1"/>
          </p:nvPr>
        </p:nvSpPr>
        <p:spPr/>
        <p:txBody>
          <a:bodyPr/>
          <a:lstStyle/>
          <a:p>
            <a:r>
              <a:rPr lang="en-US" dirty="0"/>
              <a:t>Walk through the figure left to right.
INPUT: The user supplies a free OpenAlex API key. The search runs against 109 keywords across the ten LSMS survey families.
GATE 1, KEYWORD SEARCH: Recall is prioritized over precision at this stage, since missing a paper here is permanent while a false match just gets filtered later. Each keyword is assigned to one of three tiers based on how ambiguous the term is in isolation. Tier A (38 terms) covers unambiguous names like "Uganda National Panel Survey", accepted on a full text match alone. Tier B (28 terms) covers generic real names like "National Panel Survey", which require an LSMS country term and an allowed subject field. Tier C (43 terms) covers short acronyms like "IHPS" or "LSMS", which need the same gating as Tier B plus a case sensitivity check for acronym collisions.
A key precision fix belongs here: OpenAlex applies stemming by default, which treats LSMS as equivalent to LSM, the standard abbreviation for land surface model. For a single fiscal year, the stemmed query returned 13,506 results; the correct, exact match count was 698. The acronym LSMS also collides with a neurological condition and other unrelated multi word phrases, which is why every query runs in exact match mode and Tier C keywords require country and subject field context rather than a bare acronym match.
GATE 2, RELEVANCE SCORING: Every candidate paper is scored on two independent axes, Identity and Use, each on a 2 point threshold, and a paper is retained only if both axes clear the threshold. This design exists because a single combined score let a literature review that merely named the survey three times, written by a World Bank affiliated author, outscore a real empirical study that used the microdata.
Identity signals: survey name in the title or abstract (strong, 2 points); terms matched from two or more survey families (strong, 2 points); admission on an unambiguous Tier A name (strong, 2 points); World Bank affiliated author (weak, 1 point, supporting only).
Use signals: first person data use language within 40 words of the survey name (strong, 2 points); data use language in the abstract alongside the survey name (1 to 2 points depending on specificity); general empirical language with no survey named (capped at 1 point total, cannot carry a finding alone).
EXCLUSION FILTER: Even after both gates, a handful of predictable false positive patterns get filtered out. Transitive citation: the paper cites another paper that uses LSMS data without touching the microdata itself. Survey or meta-analysis inclusion: a broader literature review lists an LSMS using paper among many others without analyzing the microdata directly. Negative or contrastive mention: the survey is named only to argue against it, for example "despite LSMS efforts". Unsupported data citation: the paper lists the dataset as a source but shows no evidence of engaging with it, sometimes a sign the citation was generated without ever using the data.
OUTPUT: One Excel workbook, covered on a later slide.</a:t>
            </a:r>
          </a:p>
        </p:txBody>
      </p:sp>
      <p:sp>
        <p:nvSpPr>
          <p:cNvPr id="4" name="Slide Number Placeholder 3">
            <a:extLst>
              <a:ext uri="{FF2B5EF4-FFF2-40B4-BE49-F238E27FC236}">
                <a16:creationId xmlns:a16="http://schemas.microsoft.com/office/drawing/2014/main" id="{DF74FF95-5EB4-9A3B-CA73-D780E007A316}"/>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23622451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three screenshots: the user pastes a free API key and clicks Run; the pipeline searches OpenAlex and builds the workbook, which takes about five minutes; when it finishes, the workbook opens directly from the interface.
The output is one Excel workbook with six sheets.
Papers: one row per discovered paper, including title, DOI, authors, institutional affiliations, publication year and fiscal year, dataset country, research topic, peer review status, journal tier, identity and use scores, and the individual signals that fired.
Analysis: headline FLOW and Africa SHARE figures, a breakdown by match tier and by the identity and use axes, and the summary charts.
FY Trend: papers per World Bank fiscal year, with the current, still open fiscal year excluded so the trend is not distorted by a partial year.
Keywords: all 109 keywords, each with its tier, matching rule, required country context, and the exact OpenAlex query sent.
Search Log: an audit trail of every query run, when it ran, and how many raw results it returned before filtering.
Not Relevant (Backup): papers that matched a keyword but scored below threshold, excluded from all headline counts and charts but kept for future review.</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833EE2-C02A-4B94-8392-955BDCDDFF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6B228A-F4B1-4BD9-4692-2036BF5234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C6431B-0636-38B8-F36A-0F57BAC6330F}"/>
              </a:ext>
            </a:extLst>
          </p:cNvPr>
          <p:cNvSpPr>
            <a:spLocks noGrp="1"/>
          </p:cNvSpPr>
          <p:nvPr>
            <p:ph type="body" idx="1"/>
          </p:nvPr>
        </p:nvSpPr>
        <p:spPr/>
        <p:txBody>
          <a:bodyPr/>
          <a:lstStyle/>
          <a:p>
            <a:r>
              <a:rPr lang="en-US" dirty="0"/>
              <a:t>Walk through the three screenshots: the user pastes a free API key and clicks Run; the pipeline searches OpenAlex and builds the workbook, which takes about five minutes; when it finishes, the workbook opens directly from the interface.
The output is one Excel workbook with six sheets.
Papers: one row per discovered paper, including title, DOI, authors, institutional affiliations, publication year and fiscal year, dataset country, research topic, peer review status, journal tier, identity and use scores, and the individual signals that fired.
Analysis: headline FLOW and Africa SHARE figures, a breakdown by match tier and by the identity and use axes, and the summary charts.
FY Trend: papers per World Bank fiscal year, with the current, still open fiscal year excluded so the trend is not distorted by a partial year.
Keywords: all 109 keywords, each with its tier, matching rule, required country context, and the exact OpenAlex query sent.
Search Log: an audit trail of every query run, when it ran, and how many raw results it returned before filtering.
Not Relevant (Backup): papers that matched a keyword but scored below threshold, excluded from all headline counts and charts but kept for future review.</a:t>
            </a:r>
          </a:p>
        </p:txBody>
      </p:sp>
      <p:sp>
        <p:nvSpPr>
          <p:cNvPr id="4" name="Slide Number Placeholder 3">
            <a:extLst>
              <a:ext uri="{FF2B5EF4-FFF2-40B4-BE49-F238E27FC236}">
                <a16:creationId xmlns:a16="http://schemas.microsoft.com/office/drawing/2014/main" id="{E2843E99-511E-3BEE-3AB6-516B0668FE9C}"/>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35193261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7FEC38-406E-F316-7DF2-DE5AFC2F44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9B2E2D-86CD-91F3-336F-95448A0357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BAD14B-1B04-F1C0-34D1-B6812C622626}"/>
              </a:ext>
            </a:extLst>
          </p:cNvPr>
          <p:cNvSpPr>
            <a:spLocks noGrp="1"/>
          </p:cNvSpPr>
          <p:nvPr>
            <p:ph type="body" idx="1"/>
          </p:nvPr>
        </p:nvSpPr>
        <p:spPr/>
        <p:txBody>
          <a:bodyPr/>
          <a:lstStyle/>
          <a:p>
            <a:r>
              <a:rPr lang="en-US" dirty="0"/>
              <a:t>Walk through the three screenshots: the user pastes a free API key and clicks Run; the pipeline searches OpenAlex and builds the workbook, which takes about five minutes; when it finishes, the workbook opens directly from the interface.
The output is one Excel workbook with six sheets.
Papers: one row per discovered paper, including title, DOI, authors, institutional affiliations, publication year and fiscal year, dataset country, research topic, peer review status, journal tier, identity and use scores, and the individual signals that fired.
Analysis: headline FLOW and Africa SHARE figures, a breakdown by match tier and by the identity and use axes, and the summary charts.
FY Trend: papers per World Bank fiscal year, with the current, still open fiscal year excluded so the trend is not distorted by a partial year.
Keywords: all 109 keywords, each with its tier, matching rule, required country context, and the exact OpenAlex query sent.
Search Log: an audit trail of every query run, when it ran, and how many raw results it returned before filtering.
Not Relevant (Backup): papers that matched a keyword but scored below threshold, excluded from all headline counts and charts but kept for future review.</a:t>
            </a:r>
          </a:p>
        </p:txBody>
      </p:sp>
      <p:sp>
        <p:nvSpPr>
          <p:cNvPr id="4" name="Slide Number Placeholder 3">
            <a:extLst>
              <a:ext uri="{FF2B5EF4-FFF2-40B4-BE49-F238E27FC236}">
                <a16:creationId xmlns:a16="http://schemas.microsoft.com/office/drawing/2014/main" id="{81B34562-D8FB-3B51-B766-810CAC3F3597}"/>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34146839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numbers come from testing the pipeline against papers that had already been assessed by hand.
Candidate data use phrases were tested against a 36 paper set already assessed by hand, to decide which phrases actually signal use. Agreement with manual, paper by paper assessment was then measured on a separate 28 paper review set: 22 of the 28 agree.
Two candidate phrases, "this paper uses" and "based on the", were removed after testing showed they were more common in citations than in genuine use.
On the exact match fix: switching from OpenAlex's default stemmed search to exact match search cut a single fiscal year's raw result count from 13,506 to 698, a reduction of about 95 percent, by eliminating the land surface model collision.
Approximate cost is $1.60 per full run, and the free OpenAlex tier covers about two runs a day.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Delivered: TOTAL, FLOW, and SHARE are now produced automatically in place of manual tracking, using the two axis identity and use scoring, with a full audit trail (keyword register, search log, and excluded paper backup).
Known gaps: two patterns still slip through occasionally. Reference-only matches: a citation carries the survey's name without indicating use; four papers in the review set are counted this way in error. Unindexed data statements: some papers declare data use in a table or section OpenAlex has not indexed; in one verified case, the full survey name is entirely absent from the index while the acronym alone is present. Europe PMC was tested as an alternative full text source; it separates use from mention correctly where covered, but only covers 4 of the 10 sample papers in this corpus, so closing both gaps needs a full text source with broader coverage of development and agricultural economics, not further tuning of the current signals.
Next steps: move country and context requirements into the OpenAlex query itself, using boolean and proximity search against full text; update the README and user documentation to reflect the current tier system; continue regression testing against flagged papers to improve recall.</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830571-336A-2072-CFA8-8B93CF4C63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14158B-7E92-BBEA-5DD0-04CAA091A0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505F92-452E-827A-23C1-4BE169823E75}"/>
              </a:ext>
            </a:extLst>
          </p:cNvPr>
          <p:cNvSpPr>
            <a:spLocks noGrp="1"/>
          </p:cNvSpPr>
          <p:nvPr>
            <p:ph type="body" idx="1"/>
          </p:nvPr>
        </p:nvSpPr>
        <p:spPr/>
        <p:txBody>
          <a:bodyPr/>
          <a:lstStyle/>
          <a:p>
            <a:r>
              <a:rPr lang="en-US" dirty="0"/>
              <a:t>Delivered: TOTAL, FLOW, and SHARE are now produced automatically in place of manual tracking, using the two axis identity and use scoring, with a full audit trail (keyword register, search log, and excluded paper backup).
Known gaps: two patterns still slip through occasionally. Reference-only matches: a citation carries the survey's name without indicating use; four papers in the review set are counted this way in error. Unindexed data statements: some papers declare data use in a table or section OpenAlex has not indexed; in one verified case, the full survey name is entirely absent from the index while the acronym alone is present. Europe PMC was tested as an alternative full text source; it separates use from mention correctly where covered, but only covers 4 of the 10 sample papers in this corpus, so closing both gaps needs a full text source with broader coverage of development and agricultural economics, not further tuning of the current signals.
Next steps: move country and context requirements into the OpenAlex query itself, using boolean and proximity search against full text; update the README and user documentation to reflect the current tier system; continue regression testing against flagged papers to improve recall.</a:t>
            </a:r>
          </a:p>
        </p:txBody>
      </p:sp>
      <p:sp>
        <p:nvSpPr>
          <p:cNvPr id="4" name="Slide Number Placeholder 3">
            <a:extLst>
              <a:ext uri="{FF2B5EF4-FFF2-40B4-BE49-F238E27FC236}">
                <a16:creationId xmlns:a16="http://schemas.microsoft.com/office/drawing/2014/main" id="{D6F96107-BD95-2040-4D9C-A76694914F2A}"/>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28045946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C6069E-7BFE-4653-FA69-FD5823F7C6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D025F2-CEBD-F0FD-0F92-A89DD91F6F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4D8040-C13C-540C-8D8E-E2DB9B55917B}"/>
              </a:ext>
            </a:extLst>
          </p:cNvPr>
          <p:cNvSpPr>
            <a:spLocks noGrp="1"/>
          </p:cNvSpPr>
          <p:nvPr>
            <p:ph type="body" idx="1"/>
          </p:nvPr>
        </p:nvSpPr>
        <p:spPr/>
        <p:txBody>
          <a:bodyPr/>
          <a:lstStyle/>
          <a:p>
            <a:r>
              <a:rPr lang="en-US" dirty="0"/>
              <a:t>Delivered: TOTAL, FLOW, and SHARE are now produced automatically in place of manual tracking, using the two axis identity and use scoring, with a full audit trail (keyword register, search log, and excluded paper backup).
Known gaps: two patterns still slip through occasionally. Reference-only matches: a citation carries the survey's name without indicating use; four papers in the review set are counted this way in error. Unindexed data statements: some papers declare data use in a table or section OpenAlex has not indexed; in one verified case, the full survey name is entirely absent from the index while the acronym alone is present. Europe PMC was tested as an alternative full text source; it separates use from mention correctly where covered, but only covers 4 of the 10 sample papers in this corpus, so closing both gaps needs a full text source with broader coverage of development and agricultural economics, not further tuning of the current signals.
Next steps: move country and context requirements into the OpenAlex query itself, using boolean and proximity search against full text; update the README and user documentation to reflect the current tier system; continue regression testing against flagged papers to improve recall.</a:t>
            </a:r>
          </a:p>
        </p:txBody>
      </p:sp>
      <p:sp>
        <p:nvSpPr>
          <p:cNvPr id="4" name="Slide Number Placeholder 3">
            <a:extLst>
              <a:ext uri="{FF2B5EF4-FFF2-40B4-BE49-F238E27FC236}">
                <a16:creationId xmlns:a16="http://schemas.microsoft.com/office/drawing/2014/main" id="{F9B28B6A-99AE-E92C-C495-3E560559439D}"/>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20350126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365316-1132-499B-EB7D-4B783340E1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7A15C0-16A9-6DCD-2919-E1F949B8C4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EFD239-F78F-5F41-B37C-C47B45CDF525}"/>
              </a:ext>
            </a:extLst>
          </p:cNvPr>
          <p:cNvSpPr>
            <a:spLocks noGrp="1"/>
          </p:cNvSpPr>
          <p:nvPr>
            <p:ph type="body" idx="1"/>
          </p:nvPr>
        </p:nvSpPr>
        <p:spPr/>
        <p:txBody>
          <a:bodyPr/>
          <a:lstStyle/>
          <a:p>
            <a:r>
              <a:rPr lang="en-US" dirty="0"/>
              <a:t>Delivered: TOTAL, FLOW, and SHARE are now produced automatically in place of manual tracking, using the two axis identity and use scoring, with a full audit trail (keyword register, search log, and excluded paper backup).
Known gaps: two patterns still slip through occasionally. Reference-only matches: a citation carries the survey's name without indicating use; four papers in the review set are counted this way in error. Unindexed data statements: some papers declare data use in a table or section OpenAlex has not indexed; in one verified case, the full survey name is entirely absent from the index while the acronym alone is present. Europe PMC was tested as an alternative full text source; it separates use from mention correctly where covered, but only covers 4 of the 10 sample papers in this corpus, so closing both gaps needs a full text source with broader coverage of development and agricultural economics, not further tuning of the current signals.
Next steps: move country and context requirements into the OpenAlex query itself, using boolean and proximity search against full text; update the README and user documentation to reflect the current tier system; continue regression testing against flagged papers to improve recall.</a:t>
            </a:r>
          </a:p>
        </p:txBody>
      </p:sp>
      <p:sp>
        <p:nvSpPr>
          <p:cNvPr id="4" name="Slide Number Placeholder 3">
            <a:extLst>
              <a:ext uri="{FF2B5EF4-FFF2-40B4-BE49-F238E27FC236}">
                <a16:creationId xmlns:a16="http://schemas.microsoft.com/office/drawing/2014/main" id="{3B0D8EA4-51AD-6F10-AF7E-FC499318AD8B}"/>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6033428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42C869-C087-4DF1-0FC1-13BA34C696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4501D9-C7A4-8442-2C62-3C7A8D17B8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650C26-E264-D068-99C8-3C8A91857649}"/>
              </a:ext>
            </a:extLst>
          </p:cNvPr>
          <p:cNvSpPr>
            <a:spLocks noGrp="1"/>
          </p:cNvSpPr>
          <p:nvPr>
            <p:ph type="body" idx="1"/>
          </p:nvPr>
        </p:nvSpPr>
        <p:spPr/>
        <p:txBody>
          <a:bodyPr/>
          <a:lstStyle/>
          <a:p>
            <a:r>
              <a:rPr lang="en-US" dirty="0"/>
              <a:t>Walk through the three screenshots: the user pastes a free API key and clicks Run; the pipeline searches OpenAlex and builds the workbook, which takes about five minutes; when it finishes, the workbook opens directly from the interface.
The output is one Excel workbook with six sheets.
Papers: one row per discovered paper, including title, DOI, authors, institutional affiliations, publication year and fiscal year, dataset country, research topic, peer review status, journal tier, identity and use scores, and the individual signals that fired.
Analysis: headline FLOW and Africa SHARE figures, a breakdown by match tier and by the identity and use axes, and the summary charts.
FY Trend: papers per World Bank fiscal year, with the current, still open fiscal year excluded so the trend is not distorted by a partial year.
Keywords: all 109 keywords, each with its tier, matching rule, required country context, and the exact OpenAlex query sent.
Search Log: an audit trail of every query run, when it ran, and how many raw results it returned before filtering.
Not Relevant (Backup): papers that matched a keyword but scored below threshold, excluded from all headline counts and charts but kept for future review.</a:t>
            </a:r>
          </a:p>
        </p:txBody>
      </p:sp>
      <p:sp>
        <p:nvSpPr>
          <p:cNvPr id="4" name="Slide Number Placeholder 3">
            <a:extLst>
              <a:ext uri="{FF2B5EF4-FFF2-40B4-BE49-F238E27FC236}">
                <a16:creationId xmlns:a16="http://schemas.microsoft.com/office/drawing/2014/main" id="{98459F46-0EA0-2DE9-7959-11883E612711}"/>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38482541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E0147B-ECC0-EB83-DFE1-63182924A6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A324F5-DDC0-8E5D-D85D-511CE32CDB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A15FAC-ECD2-92AD-55E3-33D153333983}"/>
              </a:ext>
            </a:extLst>
          </p:cNvPr>
          <p:cNvSpPr>
            <a:spLocks noGrp="1"/>
          </p:cNvSpPr>
          <p:nvPr>
            <p:ph type="body" idx="1"/>
          </p:nvPr>
        </p:nvSpPr>
        <p:spPr/>
        <p:txBody>
          <a:bodyPr/>
          <a:lstStyle/>
          <a:p>
            <a:r>
              <a:rPr lang="en-US" dirty="0"/>
              <a:t>Walk through the figure left to right.
INPUT: The user supplies a free OpenAlex API key. The search runs against 109 keywords across the ten LSMS survey families.
GATE 1, KEYWORD SEARCH: Recall is prioritized over precision at this stage, since missing a paper here is permanent while a false match just gets filtered later. Each keyword is assigned to one of three tiers based on how ambiguous the term is in isolation. Tier A (38 terms) covers unambiguous names like "Uganda National Panel Survey", accepted on a full text match alone. Tier B (28 terms) covers generic real names like "National Panel Survey", which require an LSMS country term and an allowed subject field. Tier C (43 terms) covers short acronyms like "IHPS" or "LSMS", which need the same gating as Tier B plus a case sensitivity check for acronym collisions.
A key precision fix belongs here: OpenAlex applies stemming by default, which treats LSMS as equivalent to LSM, the standard abbreviation for land surface model. For a single fiscal year, the stemmed query returned 13,506 results; the correct, exact match count was 698. The acronym LSMS also collides with a neurological condition and other unrelated multi word phrases, which is why every query runs in exact match mode and Tier C keywords require country and subject field context rather than a bare acronym match.
GATE 2, RELEVANCE SCORING: Every candidate paper is scored on two independent axes, Identity and Use, each on a 2 point threshold, and a paper is retained only if both axes clear the threshold. This design exists because a single combined score let a literature review that merely named the survey three times, written by a World Bank affiliated author, outscore a real empirical study that used the microdata.
Identity signals: survey name in the title or abstract (strong, 2 points); terms matched from two or more survey families (strong, 2 points); admission on an unambiguous Tier A name (strong, 2 points); World Bank affiliated author (weak, 1 point, supporting only).
Use signals: first person data use language within 40 words of the survey name (strong, 2 points); data use language in the abstract alongside the survey name (1 to 2 points depending on specificity); general empirical language with no survey named (capped at 1 point total, cannot carry a finding alone).
EXCLUSION FILTER: Even after both gates, a handful of predictable false positive patterns get filtered out. Transitive citation: the paper cites another paper that uses LSMS data without touching the microdata itself. Survey or meta-analysis inclusion: a broader literature review lists an LSMS using paper among many others without analyzing the microdata directly. Negative or contrastive mention: the survey is named only to argue against it, for example "despite LSMS efforts". Unsupported data citation: the paper lists the dataset as a source but shows no evidence of engaging with it, sometimes a sign the citation was generated without ever using the data.
OUTPUT: One Excel workbook, covered on a later slide.</a:t>
            </a:r>
          </a:p>
        </p:txBody>
      </p:sp>
      <p:sp>
        <p:nvSpPr>
          <p:cNvPr id="4" name="Slide Number Placeholder 3">
            <a:extLst>
              <a:ext uri="{FF2B5EF4-FFF2-40B4-BE49-F238E27FC236}">
                <a16:creationId xmlns:a16="http://schemas.microsoft.com/office/drawing/2014/main" id="{ECB2C5B2-387A-380A-67CF-FEBDA92743F0}"/>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34249503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0.png"/><Relationship Id="rId7"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10" Type="http://schemas.openxmlformats.org/officeDocument/2006/relationships/image" Target="../media/image18.png"/><Relationship Id="rId4" Type="http://schemas.openxmlformats.org/officeDocument/2006/relationships/image" Target="../media/image11.png"/><Relationship Id="rId9"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home/claude/pptx_project/lsms_brand/title_bg.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713232" y="1234440"/>
            <a:ext cx="9601200" cy="1828800"/>
          </a:xfrm>
          <a:prstGeom prst="rect">
            <a:avLst/>
          </a:prstGeom>
          <a:noFill/>
          <a:ln/>
        </p:spPr>
        <p:txBody>
          <a:bodyPr wrap="square" rtlCol="0" anchor="ctr"/>
          <a:lstStyle/>
          <a:p>
            <a:pPr marL="0" indent="0">
              <a:lnSpc>
                <a:spcPct val="105000"/>
              </a:lnSpc>
              <a:buNone/>
            </a:pPr>
            <a:r>
              <a:rPr lang="en-US" sz="4400" b="1" dirty="0">
                <a:solidFill>
                  <a:srgbClr val="FFFFFF"/>
                </a:solidFill>
                <a:latin typeface="Calibri" pitchFamily="34" charset="0"/>
                <a:ea typeface="Calibri" pitchFamily="34" charset="-122"/>
                <a:cs typeface="Calibri" pitchFamily="34" charset="-120"/>
              </a:rPr>
              <a:t>LSMS Research Impact</a:t>
            </a:r>
            <a:endParaRPr lang="en-US" sz="4400" dirty="0"/>
          </a:p>
          <a:p>
            <a:pPr marL="0" indent="0">
              <a:lnSpc>
                <a:spcPct val="105000"/>
              </a:lnSpc>
              <a:buNone/>
            </a:pPr>
            <a:r>
              <a:rPr lang="en-US" sz="4400" b="1" dirty="0">
                <a:solidFill>
                  <a:srgbClr val="FFFFFF"/>
                </a:solidFill>
                <a:latin typeface="Calibri" pitchFamily="34" charset="0"/>
                <a:ea typeface="Calibri" pitchFamily="34" charset="-122"/>
                <a:cs typeface="Calibri" pitchFamily="34" charset="-120"/>
              </a:rPr>
              <a:t>Tracking Pipeline</a:t>
            </a:r>
            <a:endParaRPr lang="en-US" sz="4400" dirty="0"/>
          </a:p>
        </p:txBody>
      </p:sp>
      <p:sp>
        <p:nvSpPr>
          <p:cNvPr id="4" name="Text 1"/>
          <p:cNvSpPr/>
          <p:nvPr/>
        </p:nvSpPr>
        <p:spPr>
          <a:xfrm>
            <a:off x="713232" y="2971800"/>
            <a:ext cx="8778240" cy="548640"/>
          </a:xfrm>
          <a:prstGeom prst="rect">
            <a:avLst/>
          </a:prstGeom>
          <a:noFill/>
          <a:ln/>
        </p:spPr>
        <p:txBody>
          <a:bodyPr wrap="square"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Automated identification and validation of published research using LSMS survey data</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2" name="Image 0" descr="/home/claude/pptx_project/lsms_brand/content_bg.png"/>
          <p:cNvPicPr>
            <a:picLocks noChangeAspect="1"/>
          </p:cNvPicPr>
          <p:nvPr/>
        </p:nvPicPr>
        <p:blipFill>
          <a:blip r:embed="rId3"/>
          <a:stretch>
            <a:fillRect/>
          </a:stretch>
        </p:blipFill>
        <p:spPr>
          <a:xfrm>
            <a:off x="305" y="0"/>
            <a:ext cx="12191695" cy="6858000"/>
          </a:xfrm>
          <a:prstGeom prst="rect">
            <a:avLst/>
          </a:prstGeom>
        </p:spPr>
      </p:pic>
      <p:sp>
        <p:nvSpPr>
          <p:cNvPr id="3" name="Text 0"/>
          <p:cNvSpPr/>
          <p:nvPr/>
        </p:nvSpPr>
        <p:spPr>
          <a:xfrm>
            <a:off x="594360" y="146304"/>
            <a:ext cx="10698480" cy="658368"/>
          </a:xfrm>
          <a:prstGeom prst="rect">
            <a:avLst/>
          </a:prstGeom>
          <a:noFill/>
          <a:ln/>
        </p:spPr>
        <p:txBody>
          <a:bodyPr wrap="square" rtlCol="0" anchor="ctr"/>
          <a:lstStyle/>
          <a:p>
            <a:pPr>
              <a:lnSpc>
                <a:spcPct val="105000"/>
              </a:lnSpc>
            </a:pPr>
            <a:r>
              <a:rPr lang="en-US" sz="3200" b="1" dirty="0">
                <a:solidFill>
                  <a:srgbClr val="FFFFFF"/>
                </a:solidFill>
                <a:latin typeface="Calibri" pitchFamily="34" charset="0"/>
                <a:ea typeface="Calibri" pitchFamily="34" charset="-122"/>
                <a:cs typeface="Calibri" pitchFamily="34" charset="-120"/>
              </a:rPr>
              <a:t>“Who is this?”</a:t>
            </a:r>
            <a:endParaRPr lang="en-US" sz="3200" dirty="0"/>
          </a:p>
        </p:txBody>
      </p:sp>
      <p:sp>
        <p:nvSpPr>
          <p:cNvPr id="4" name="Shape 1"/>
          <p:cNvSpPr/>
          <p:nvPr/>
        </p:nvSpPr>
        <p:spPr>
          <a:xfrm>
            <a:off x="594360" y="1588184"/>
            <a:ext cx="2871216" cy="2871216"/>
          </a:xfrm>
          <a:prstGeom prst="roundRect">
            <a:avLst>
              <a:gd name="adj" fmla="val 2866"/>
            </a:avLst>
          </a:prstGeom>
          <a:solidFill>
            <a:srgbClr val="FFFFFF"/>
          </a:solidFill>
          <a:ln w="9525">
            <a:solidFill>
              <a:srgbClr val="C7D2DD"/>
            </a:solidFill>
            <a:prstDash val="solid"/>
          </a:ln>
          <a:effectLst>
            <a:outerShdw blurRad="101600" dist="38100" dir="5400000" algn="bl" rotWithShape="0">
              <a:srgbClr val="000000">
                <a:alpha val="15000"/>
              </a:srgbClr>
            </a:outerShdw>
          </a:effectLst>
        </p:spPr>
        <p:txBody>
          <a:bodyPr/>
          <a:lstStyle/>
          <a:p>
            <a:endParaRPr lang="en-US"/>
          </a:p>
        </p:txBody>
      </p:sp>
      <p:pic>
        <p:nvPicPr>
          <p:cNvPr id="5" name="Image 1" descr="/home/claude/pptx_project/bio/headshot.png"/>
          <p:cNvPicPr>
            <a:picLocks noChangeAspect="1"/>
          </p:cNvPicPr>
          <p:nvPr/>
        </p:nvPicPr>
        <p:blipFill>
          <a:blip r:embed="rId4"/>
          <a:stretch>
            <a:fillRect/>
          </a:stretch>
        </p:blipFill>
        <p:spPr>
          <a:xfrm>
            <a:off x="612648" y="1606472"/>
            <a:ext cx="2834640" cy="2834640"/>
          </a:xfrm>
          <a:prstGeom prst="rect">
            <a:avLst/>
          </a:prstGeom>
        </p:spPr>
      </p:pic>
      <p:sp>
        <p:nvSpPr>
          <p:cNvPr id="6" name="Text 2"/>
          <p:cNvSpPr/>
          <p:nvPr/>
        </p:nvSpPr>
        <p:spPr>
          <a:xfrm>
            <a:off x="576072" y="4370832"/>
            <a:ext cx="2834640" cy="640080"/>
          </a:xfrm>
          <a:prstGeom prst="rect">
            <a:avLst/>
          </a:prstGeom>
          <a:noFill/>
          <a:ln/>
        </p:spPr>
        <p:txBody>
          <a:bodyPr wrap="square" rtlCol="0" anchor="ctr"/>
          <a:lstStyle/>
          <a:p>
            <a:pPr marL="0" indent="0">
              <a:lnSpc>
                <a:spcPct val="100000"/>
              </a:lnSpc>
              <a:buNone/>
            </a:pPr>
            <a:r>
              <a:rPr lang="en-US" sz="1800" b="1" dirty="0">
                <a:solidFill>
                  <a:srgbClr val="163454"/>
                </a:solidFill>
                <a:latin typeface="Calibri" pitchFamily="34" charset="0"/>
                <a:ea typeface="Calibri" pitchFamily="34" charset="-122"/>
                <a:cs typeface="Calibri" pitchFamily="34" charset="-120"/>
              </a:rPr>
              <a:t>Bendegúz (“Ben”) Dörnyei</a:t>
            </a:r>
            <a:endParaRPr lang="en-US" sz="1800" dirty="0"/>
          </a:p>
        </p:txBody>
      </p:sp>
      <p:sp>
        <p:nvSpPr>
          <p:cNvPr id="7" name="Text 3"/>
          <p:cNvSpPr/>
          <p:nvPr/>
        </p:nvSpPr>
        <p:spPr>
          <a:xfrm>
            <a:off x="576072" y="4937760"/>
            <a:ext cx="2834640" cy="320040"/>
          </a:xfrm>
          <a:prstGeom prst="rect">
            <a:avLst/>
          </a:prstGeom>
          <a:noFill/>
          <a:ln/>
        </p:spPr>
        <p:txBody>
          <a:bodyPr wrap="square" rtlCol="0" anchor="ctr"/>
          <a:lstStyle/>
          <a:p>
            <a:pPr marL="0" indent="0">
              <a:buNone/>
            </a:pPr>
            <a:r>
              <a:rPr lang="en-US" sz="1250" b="1" dirty="0">
                <a:solidFill>
                  <a:srgbClr val="1389C6"/>
                </a:solidFill>
                <a:latin typeface="Calibri" pitchFamily="34" charset="0"/>
                <a:ea typeface="Calibri" pitchFamily="34" charset="-122"/>
                <a:cs typeface="Calibri" pitchFamily="34" charset="-120"/>
              </a:rPr>
              <a:t>LSMS Survey Innovation Fellow</a:t>
            </a:r>
            <a:endParaRPr lang="en-US" sz="1250" dirty="0"/>
          </a:p>
        </p:txBody>
      </p:sp>
      <p:sp>
        <p:nvSpPr>
          <p:cNvPr id="8" name="Text 4"/>
          <p:cNvSpPr/>
          <p:nvPr/>
        </p:nvSpPr>
        <p:spPr>
          <a:xfrm>
            <a:off x="576072" y="5230368"/>
            <a:ext cx="2834640" cy="365760"/>
          </a:xfrm>
          <a:prstGeom prst="rect">
            <a:avLst/>
          </a:prstGeom>
          <a:noFill/>
          <a:ln/>
        </p:spPr>
        <p:txBody>
          <a:bodyPr wrap="square" rtlCol="0" anchor="ctr"/>
          <a:lstStyle/>
          <a:p>
            <a:pPr marL="0" indent="0">
              <a:buNone/>
            </a:pPr>
            <a:r>
              <a:rPr lang="en-US" sz="1150" dirty="0">
                <a:solidFill>
                  <a:srgbClr val="5B6472"/>
                </a:solidFill>
                <a:latin typeface="Calibri" pitchFamily="34" charset="0"/>
                <a:ea typeface="Calibri" pitchFamily="34" charset="-122"/>
                <a:cs typeface="Calibri" pitchFamily="34" charset="-120"/>
              </a:rPr>
              <a:t>World Bank Group, Washington, DC</a:t>
            </a:r>
            <a:endParaRPr lang="en-US" sz="1150" dirty="0"/>
          </a:p>
        </p:txBody>
      </p:sp>
      <p:sp>
        <p:nvSpPr>
          <p:cNvPr id="9" name="Text 5"/>
          <p:cNvSpPr/>
          <p:nvPr/>
        </p:nvSpPr>
        <p:spPr>
          <a:xfrm>
            <a:off x="3794760" y="1600200"/>
            <a:ext cx="7818120" cy="4480560"/>
          </a:xfrm>
          <a:prstGeom prst="rect">
            <a:avLst/>
          </a:prstGeom>
          <a:noFill/>
          <a:ln/>
        </p:spPr>
        <p:txBody>
          <a:bodyPr wrap="square" rtlCol="0" anchor="t"/>
          <a:lstStyle/>
          <a:p>
            <a:pPr marL="228600" indent="-228600">
              <a:spcAft>
                <a:spcPts val="2600"/>
              </a:spcAft>
              <a:buSzPct val="100000"/>
              <a:buChar char="•"/>
            </a:pPr>
            <a:r>
              <a:rPr lang="en-US" sz="1900" dirty="0">
                <a:solidFill>
                  <a:srgbClr val="1A1A1A"/>
                </a:solidFill>
                <a:latin typeface="Calibri" pitchFamily="34" charset="0"/>
                <a:ea typeface="Calibri" pitchFamily="34" charset="-122"/>
                <a:cs typeface="Calibri" pitchFamily="34" charset="-120"/>
              </a:rPr>
              <a:t>From Budapest, Hungary.</a:t>
            </a:r>
            <a:endParaRPr lang="en-US" sz="1900" dirty="0"/>
          </a:p>
          <a:p>
            <a:pPr marL="228600" indent="-228600">
              <a:spcAft>
                <a:spcPts val="2600"/>
              </a:spcAft>
              <a:buSzPct val="100000"/>
              <a:buChar char="•"/>
            </a:pPr>
            <a:r>
              <a:rPr lang="en-US" sz="1900" dirty="0">
                <a:solidFill>
                  <a:srgbClr val="1A1A1A"/>
                </a:solidFill>
                <a:latin typeface="Calibri" pitchFamily="34" charset="0"/>
                <a:ea typeface="Calibri" pitchFamily="34" charset="-122"/>
                <a:cs typeface="Calibri" pitchFamily="34" charset="-120"/>
              </a:rPr>
              <a:t>Yale M.P.P., and M.S. in Computer Science at Georgia Tech.</a:t>
            </a:r>
            <a:endParaRPr lang="en-US" sz="1900" dirty="0"/>
          </a:p>
          <a:p>
            <a:pPr marL="228600" indent="-228600">
              <a:spcAft>
                <a:spcPts val="2600"/>
              </a:spcAft>
              <a:buSzPct val="100000"/>
              <a:buChar char="•"/>
            </a:pPr>
            <a:r>
              <a:rPr lang="en-US" sz="1900" dirty="0">
                <a:solidFill>
                  <a:srgbClr val="1A1A1A"/>
                </a:solidFill>
                <a:latin typeface="Calibri" pitchFamily="34" charset="0"/>
                <a:ea typeface="Calibri" pitchFamily="34" charset="-122"/>
                <a:cs typeface="Calibri" pitchFamily="34" charset="-120"/>
              </a:rPr>
              <a:t>Dual Yale B.A., with a term at Cambridge along the way.</a:t>
            </a:r>
            <a:endParaRPr lang="en-US" sz="1900" dirty="0"/>
          </a:p>
          <a:p>
            <a:pPr marL="228600" indent="-228600">
              <a:spcAft>
                <a:spcPts val="2600"/>
              </a:spcAft>
              <a:buSzPct val="100000"/>
              <a:buChar char="•"/>
            </a:pPr>
            <a:r>
              <a:rPr lang="en-US" sz="1900" dirty="0">
                <a:solidFill>
                  <a:srgbClr val="1A1A1A"/>
                </a:solidFill>
                <a:latin typeface="Calibri" pitchFamily="34" charset="0"/>
                <a:ea typeface="Calibri" pitchFamily="34" charset="-122"/>
                <a:cs typeface="Calibri" pitchFamily="34" charset="-120"/>
              </a:rPr>
              <a:t>Previously UNICEF, the UN, and a few startups.</a:t>
            </a:r>
          </a:p>
          <a:p>
            <a:pPr marL="228600" indent="-228600">
              <a:spcAft>
                <a:spcPts val="2600"/>
              </a:spcAft>
              <a:buSzPct val="100000"/>
              <a:buChar char="•"/>
            </a:pPr>
            <a:r>
              <a:rPr lang="en-US" sz="1900" dirty="0">
                <a:solidFill>
                  <a:srgbClr val="1A1A1A"/>
                </a:solidFill>
                <a:latin typeface="Calibri" pitchFamily="34" charset="0"/>
                <a:ea typeface="Calibri" pitchFamily="34" charset="-122"/>
                <a:cs typeface="Calibri" pitchFamily="34" charset="-120"/>
              </a:rPr>
              <a:t>Race Canoeing, Travel, Live Music, Low-budget Shows</a:t>
            </a:r>
            <a:endParaRPr lang="en-US" sz="1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pic>
        <p:nvPicPr>
          <p:cNvPr id="2" name="Image 0" descr="/home/claude/pptx_project/lsms_brand/content_bg.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94360" y="146304"/>
            <a:ext cx="10698480" cy="658368"/>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Incentive</a:t>
            </a:r>
            <a:endParaRPr lang="en-US" sz="3000" dirty="0"/>
          </a:p>
        </p:txBody>
      </p:sp>
      <p:sp>
        <p:nvSpPr>
          <p:cNvPr id="4" name="Text 1"/>
          <p:cNvSpPr/>
          <p:nvPr/>
        </p:nvSpPr>
        <p:spPr>
          <a:xfrm>
            <a:off x="792327" y="2672463"/>
            <a:ext cx="10607040" cy="941921"/>
          </a:xfrm>
          <a:prstGeom prst="rect">
            <a:avLst/>
          </a:prstGeom>
          <a:noFill/>
          <a:ln/>
        </p:spPr>
        <p:txBody>
          <a:bodyPr wrap="square" rtlCol="0" anchor="t"/>
          <a:lstStyle/>
          <a:p>
            <a:pPr algn="ctr">
              <a:spcAft>
                <a:spcPts val="4000"/>
              </a:spcAft>
              <a:buSzPct val="100000"/>
            </a:pPr>
            <a:r>
              <a:rPr lang="en-US" sz="3600" dirty="0"/>
              <a:t>Objectively measure the impact of LSMS data.</a:t>
            </a:r>
          </a:p>
          <a:p>
            <a:pPr algn="ctr">
              <a:spcAft>
                <a:spcPts val="4000"/>
              </a:spcAft>
              <a:buSzPct val="100000"/>
            </a:pPr>
            <a:r>
              <a:rPr lang="en-US" b="1" u="sng" dirty="0"/>
              <a:t>Goal:</a:t>
            </a:r>
            <a:r>
              <a:rPr lang="en-US" b="1" dirty="0"/>
              <a:t> </a:t>
            </a:r>
            <a:r>
              <a:rPr lang="en-US" dirty="0"/>
              <a:t>Find the TOTAL, FLOW and SHARE of papers using our surveys.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7768E2-3971-FF65-122F-E7BCAF34C6D2}"/>
            </a:ext>
          </a:extLst>
        </p:cNvPr>
        <p:cNvGrpSpPr/>
        <p:nvPr/>
      </p:nvGrpSpPr>
      <p:grpSpPr>
        <a:xfrm>
          <a:off x="0" y="0"/>
          <a:ext cx="0" cy="0"/>
          <a:chOff x="0" y="0"/>
          <a:chExt cx="0" cy="0"/>
        </a:xfrm>
      </p:grpSpPr>
      <p:pic>
        <p:nvPicPr>
          <p:cNvPr id="2" name="Image 0" descr="/home/claude/pptx_project/lsms_brand/content_bg.png">
            <a:extLst>
              <a:ext uri="{FF2B5EF4-FFF2-40B4-BE49-F238E27FC236}">
                <a16:creationId xmlns:a16="http://schemas.microsoft.com/office/drawing/2014/main" id="{8C082807-1676-C99B-1075-91829299433F}"/>
              </a:ext>
            </a:extLst>
          </p:cNvPr>
          <p:cNvPicPr>
            <a:picLocks noChangeAspect="1"/>
          </p:cNvPicPr>
          <p:nvPr/>
        </p:nvPicPr>
        <p:blipFill>
          <a:blip r:embed="rId3"/>
          <a:stretch>
            <a:fillRect/>
          </a:stretch>
        </p:blipFill>
        <p:spPr>
          <a:xfrm>
            <a:off x="0" y="0"/>
            <a:ext cx="12191695" cy="6858000"/>
          </a:xfrm>
          <a:prstGeom prst="rect">
            <a:avLst/>
          </a:prstGeom>
        </p:spPr>
      </p:pic>
      <p:sp>
        <p:nvSpPr>
          <p:cNvPr id="3" name="Text 0">
            <a:extLst>
              <a:ext uri="{FF2B5EF4-FFF2-40B4-BE49-F238E27FC236}">
                <a16:creationId xmlns:a16="http://schemas.microsoft.com/office/drawing/2014/main" id="{5CF32526-F234-8945-DC19-96DE571B1AF4}"/>
              </a:ext>
            </a:extLst>
          </p:cNvPr>
          <p:cNvSpPr/>
          <p:nvPr/>
        </p:nvSpPr>
        <p:spPr>
          <a:xfrm>
            <a:off x="594360" y="146304"/>
            <a:ext cx="10698480" cy="658368"/>
          </a:xfrm>
          <a:prstGeom prst="rect">
            <a:avLst/>
          </a:prstGeom>
          <a:noFill/>
          <a:ln/>
        </p:spPr>
        <p:txBody>
          <a:bodyPr wrap="square" rtlCol="0" anchor="ctr"/>
          <a:lstStyle/>
          <a:p>
            <a:r>
              <a:rPr lang="en-US" sz="3000" b="1" dirty="0">
                <a:solidFill>
                  <a:srgbClr val="FFFFFF"/>
                </a:solidFill>
                <a:latin typeface="Calibri" pitchFamily="34" charset="0"/>
                <a:ea typeface="Calibri" pitchFamily="34" charset="-122"/>
                <a:cs typeface="Calibri" pitchFamily="34" charset="-120"/>
              </a:rPr>
              <a:t>Overview</a:t>
            </a:r>
            <a:endParaRPr lang="en-US" sz="3000" dirty="0"/>
          </a:p>
        </p:txBody>
      </p:sp>
      <p:sp>
        <p:nvSpPr>
          <p:cNvPr id="6" name="Shape 2">
            <a:extLst>
              <a:ext uri="{FF2B5EF4-FFF2-40B4-BE49-F238E27FC236}">
                <a16:creationId xmlns:a16="http://schemas.microsoft.com/office/drawing/2014/main" id="{067E5FB8-31B1-49AA-9B09-CF7E05AE1B7E}"/>
              </a:ext>
            </a:extLst>
          </p:cNvPr>
          <p:cNvSpPr/>
          <p:nvPr/>
        </p:nvSpPr>
        <p:spPr>
          <a:xfrm>
            <a:off x="502920" y="1097280"/>
            <a:ext cx="11183112" cy="4846320"/>
          </a:xfrm>
          <a:prstGeom prst="roundRect">
            <a:avLst>
              <a:gd name="adj" fmla="val 1132"/>
            </a:avLst>
          </a:prstGeom>
          <a:solidFill>
            <a:srgbClr val="FFFFFF"/>
          </a:solidFill>
          <a:ln w="9525">
            <a:solidFill>
              <a:srgbClr val="C7D2DD"/>
            </a:solidFill>
            <a:prstDash val="solid"/>
          </a:ln>
          <a:effectLst>
            <a:outerShdw blurRad="127000" dist="38100" dir="5400000" algn="bl" rotWithShape="0">
              <a:srgbClr val="000000">
                <a:alpha val="12000"/>
              </a:srgbClr>
            </a:outerShdw>
          </a:effectLst>
        </p:spPr>
        <p:txBody>
          <a:bodyPr/>
          <a:lstStyle/>
          <a:p>
            <a:endParaRPr lang="en-US"/>
          </a:p>
        </p:txBody>
      </p:sp>
      <p:sp>
        <p:nvSpPr>
          <p:cNvPr id="10" name="Text 3">
            <a:extLst>
              <a:ext uri="{FF2B5EF4-FFF2-40B4-BE49-F238E27FC236}">
                <a16:creationId xmlns:a16="http://schemas.microsoft.com/office/drawing/2014/main" id="{A95A76B6-F6D2-3690-71BC-FF469C56D303}"/>
              </a:ext>
            </a:extLst>
          </p:cNvPr>
          <p:cNvSpPr/>
          <p:nvPr/>
        </p:nvSpPr>
        <p:spPr>
          <a:xfrm>
            <a:off x="777240" y="1325880"/>
            <a:ext cx="2103120" cy="749808"/>
          </a:xfrm>
          <a:prstGeom prst="rect">
            <a:avLst/>
          </a:prstGeom>
          <a:noFill/>
          <a:ln/>
        </p:spPr>
        <p:txBody>
          <a:bodyPr wrap="square" rtlCol="0" anchor="t"/>
          <a:lstStyle/>
          <a:p>
            <a:pPr marL="0" indent="0">
              <a:buNone/>
            </a:pPr>
            <a:r>
              <a:rPr lang="en-US" sz="1200" b="1" dirty="0">
                <a:solidFill>
                  <a:srgbClr val="004370"/>
                </a:solidFill>
                <a:latin typeface="Calibri" pitchFamily="34" charset="0"/>
                <a:ea typeface="Calibri" pitchFamily="34" charset="-122"/>
                <a:cs typeface="Calibri" pitchFamily="34" charset="-120"/>
              </a:rPr>
              <a:t>Metrics</a:t>
            </a:r>
            <a:endParaRPr lang="en-US" sz="1200" dirty="0"/>
          </a:p>
        </p:txBody>
      </p:sp>
      <p:sp>
        <p:nvSpPr>
          <p:cNvPr id="14" name="Text 4">
            <a:extLst>
              <a:ext uri="{FF2B5EF4-FFF2-40B4-BE49-F238E27FC236}">
                <a16:creationId xmlns:a16="http://schemas.microsoft.com/office/drawing/2014/main" id="{9183D997-137E-C409-71F1-51D3B0CCFB49}"/>
              </a:ext>
            </a:extLst>
          </p:cNvPr>
          <p:cNvSpPr/>
          <p:nvPr/>
        </p:nvSpPr>
        <p:spPr>
          <a:xfrm>
            <a:off x="3017520" y="1325880"/>
            <a:ext cx="8321040" cy="749808"/>
          </a:xfrm>
          <a:prstGeom prst="rect">
            <a:avLst/>
          </a:prstGeom>
          <a:noFill/>
          <a:ln/>
        </p:spPr>
        <p:txBody>
          <a:bodyPr wrap="square" rtlCol="0" anchor="t"/>
          <a:lstStyle/>
          <a:p>
            <a:pPr marL="0" indent="0">
              <a:buNone/>
            </a:pPr>
            <a:r>
              <a:rPr lang="en-US" sz="1200" dirty="0">
                <a:solidFill>
                  <a:srgbClr val="222222"/>
                </a:solidFill>
                <a:latin typeface="Calibri" pitchFamily="34" charset="0"/>
                <a:ea typeface="Calibri" pitchFamily="34" charset="-122"/>
                <a:cs typeface="Calibri" pitchFamily="34" charset="-120"/>
              </a:rPr>
              <a:t>TOTAL, FLOW, and SHARE: papers using LSMS data, new papers per World Bank Group fiscal year, and the share with African affiliated authors.</a:t>
            </a:r>
            <a:endParaRPr lang="en-US" sz="1200" dirty="0"/>
          </a:p>
        </p:txBody>
      </p:sp>
      <p:sp>
        <p:nvSpPr>
          <p:cNvPr id="18" name="Shape 5">
            <a:extLst>
              <a:ext uri="{FF2B5EF4-FFF2-40B4-BE49-F238E27FC236}">
                <a16:creationId xmlns:a16="http://schemas.microsoft.com/office/drawing/2014/main" id="{46251AD3-F4E1-F3E9-4254-D4A767781A69}"/>
              </a:ext>
            </a:extLst>
          </p:cNvPr>
          <p:cNvSpPr/>
          <p:nvPr/>
        </p:nvSpPr>
        <p:spPr>
          <a:xfrm>
            <a:off x="777240" y="2057400"/>
            <a:ext cx="10607040" cy="0"/>
          </a:xfrm>
          <a:prstGeom prst="line">
            <a:avLst/>
          </a:prstGeom>
          <a:noFill/>
          <a:ln w="9525">
            <a:solidFill>
              <a:srgbClr val="C7D2DD"/>
            </a:solidFill>
            <a:prstDash val="solid"/>
          </a:ln>
        </p:spPr>
        <p:txBody>
          <a:bodyPr/>
          <a:lstStyle/>
          <a:p>
            <a:endParaRPr lang="en-US"/>
          </a:p>
        </p:txBody>
      </p:sp>
      <p:sp>
        <p:nvSpPr>
          <p:cNvPr id="22" name="Text 6">
            <a:extLst>
              <a:ext uri="{FF2B5EF4-FFF2-40B4-BE49-F238E27FC236}">
                <a16:creationId xmlns:a16="http://schemas.microsoft.com/office/drawing/2014/main" id="{34921443-A2C6-4907-2AE2-71362822416B}"/>
              </a:ext>
            </a:extLst>
          </p:cNvPr>
          <p:cNvSpPr/>
          <p:nvPr/>
        </p:nvSpPr>
        <p:spPr>
          <a:xfrm>
            <a:off x="777240" y="2075688"/>
            <a:ext cx="2103120" cy="749808"/>
          </a:xfrm>
          <a:prstGeom prst="rect">
            <a:avLst/>
          </a:prstGeom>
          <a:noFill/>
          <a:ln/>
        </p:spPr>
        <p:txBody>
          <a:bodyPr wrap="square" rtlCol="0" anchor="t"/>
          <a:lstStyle/>
          <a:p>
            <a:pPr marL="0" indent="0">
              <a:buNone/>
            </a:pPr>
            <a:r>
              <a:rPr lang="en-US" sz="1200" b="1" dirty="0">
                <a:solidFill>
                  <a:srgbClr val="004370"/>
                </a:solidFill>
                <a:latin typeface="Calibri" pitchFamily="34" charset="0"/>
                <a:ea typeface="Calibri" pitchFamily="34" charset="-122"/>
                <a:cs typeface="Calibri" pitchFamily="34" charset="-120"/>
              </a:rPr>
              <a:t>Source</a:t>
            </a:r>
            <a:endParaRPr lang="en-US" sz="1200" dirty="0"/>
          </a:p>
        </p:txBody>
      </p:sp>
      <p:sp>
        <p:nvSpPr>
          <p:cNvPr id="26" name="Text 7">
            <a:extLst>
              <a:ext uri="{FF2B5EF4-FFF2-40B4-BE49-F238E27FC236}">
                <a16:creationId xmlns:a16="http://schemas.microsoft.com/office/drawing/2014/main" id="{A01ACCD2-8F9E-2B5C-AF56-7012DAD297F2}"/>
              </a:ext>
            </a:extLst>
          </p:cNvPr>
          <p:cNvSpPr/>
          <p:nvPr/>
        </p:nvSpPr>
        <p:spPr>
          <a:xfrm>
            <a:off x="3017520" y="2075688"/>
            <a:ext cx="8321040" cy="749808"/>
          </a:xfrm>
          <a:prstGeom prst="rect">
            <a:avLst/>
          </a:prstGeom>
          <a:noFill/>
          <a:ln/>
        </p:spPr>
        <p:txBody>
          <a:bodyPr wrap="square" rtlCol="0" anchor="t"/>
          <a:lstStyle/>
          <a:p>
            <a:pPr marL="0" indent="0">
              <a:buNone/>
            </a:pPr>
            <a:r>
              <a:rPr lang="en-US" sz="1200" dirty="0">
                <a:solidFill>
                  <a:srgbClr val="222222"/>
                </a:solidFill>
                <a:latin typeface="Calibri" pitchFamily="34" charset="0"/>
                <a:ea typeface="Calibri" pitchFamily="34" charset="-122"/>
                <a:cs typeface="Calibri" pitchFamily="34" charset="-120"/>
              </a:rPr>
              <a:t>OpenAlex, covering journal articles, working papers, preprints, and grey literature, searched against title, abstract, and full text.</a:t>
            </a:r>
            <a:endParaRPr lang="en-US" sz="1200" dirty="0"/>
          </a:p>
        </p:txBody>
      </p:sp>
      <p:sp>
        <p:nvSpPr>
          <p:cNvPr id="28" name="Shape 8">
            <a:extLst>
              <a:ext uri="{FF2B5EF4-FFF2-40B4-BE49-F238E27FC236}">
                <a16:creationId xmlns:a16="http://schemas.microsoft.com/office/drawing/2014/main" id="{D6DFC495-01B5-E21E-EF27-04EE7D146EF7}"/>
              </a:ext>
            </a:extLst>
          </p:cNvPr>
          <p:cNvSpPr/>
          <p:nvPr/>
        </p:nvSpPr>
        <p:spPr>
          <a:xfrm>
            <a:off x="777240" y="2807208"/>
            <a:ext cx="10607040" cy="0"/>
          </a:xfrm>
          <a:prstGeom prst="line">
            <a:avLst/>
          </a:prstGeom>
          <a:noFill/>
          <a:ln w="9525">
            <a:solidFill>
              <a:srgbClr val="C7D2DD"/>
            </a:solidFill>
            <a:prstDash val="solid"/>
          </a:ln>
        </p:spPr>
        <p:txBody>
          <a:bodyPr/>
          <a:lstStyle/>
          <a:p>
            <a:endParaRPr lang="en-US"/>
          </a:p>
        </p:txBody>
      </p:sp>
      <p:sp>
        <p:nvSpPr>
          <p:cNvPr id="31" name="Text 9">
            <a:extLst>
              <a:ext uri="{FF2B5EF4-FFF2-40B4-BE49-F238E27FC236}">
                <a16:creationId xmlns:a16="http://schemas.microsoft.com/office/drawing/2014/main" id="{BA2FAA1B-A2C9-55B9-085D-53E3963D657A}"/>
              </a:ext>
            </a:extLst>
          </p:cNvPr>
          <p:cNvSpPr/>
          <p:nvPr/>
        </p:nvSpPr>
        <p:spPr>
          <a:xfrm>
            <a:off x="777240" y="2825496"/>
            <a:ext cx="2103120" cy="749808"/>
          </a:xfrm>
          <a:prstGeom prst="rect">
            <a:avLst/>
          </a:prstGeom>
          <a:noFill/>
          <a:ln/>
        </p:spPr>
        <p:txBody>
          <a:bodyPr wrap="square" rtlCol="0" anchor="t"/>
          <a:lstStyle/>
          <a:p>
            <a:pPr marL="0" indent="0">
              <a:buNone/>
            </a:pPr>
            <a:r>
              <a:rPr lang="en-US" sz="1200" b="1" dirty="0">
                <a:solidFill>
                  <a:srgbClr val="004370"/>
                </a:solidFill>
                <a:latin typeface="Calibri" pitchFamily="34" charset="0"/>
                <a:ea typeface="Calibri" pitchFamily="34" charset="-122"/>
                <a:cs typeface="Calibri" pitchFamily="34" charset="-120"/>
              </a:rPr>
              <a:t>Matching</a:t>
            </a:r>
            <a:endParaRPr lang="en-US" sz="1200" dirty="0"/>
          </a:p>
        </p:txBody>
      </p:sp>
      <p:sp>
        <p:nvSpPr>
          <p:cNvPr id="34" name="Text 10">
            <a:extLst>
              <a:ext uri="{FF2B5EF4-FFF2-40B4-BE49-F238E27FC236}">
                <a16:creationId xmlns:a16="http://schemas.microsoft.com/office/drawing/2014/main" id="{7C466048-AFCE-D8B4-9AB8-1A1A0415C52E}"/>
              </a:ext>
            </a:extLst>
          </p:cNvPr>
          <p:cNvSpPr/>
          <p:nvPr/>
        </p:nvSpPr>
        <p:spPr>
          <a:xfrm>
            <a:off x="3017520" y="2825496"/>
            <a:ext cx="8321040" cy="749808"/>
          </a:xfrm>
          <a:prstGeom prst="rect">
            <a:avLst/>
          </a:prstGeom>
          <a:noFill/>
          <a:ln/>
        </p:spPr>
        <p:txBody>
          <a:bodyPr wrap="square" rtlCol="0" anchor="t"/>
          <a:lstStyle/>
          <a:p>
            <a:pPr marL="0" indent="0">
              <a:buNone/>
            </a:pPr>
            <a:r>
              <a:rPr lang="en-US" sz="1200" dirty="0">
                <a:solidFill>
                  <a:srgbClr val="222222"/>
                </a:solidFill>
                <a:latin typeface="Calibri" pitchFamily="34" charset="0"/>
                <a:ea typeface="Calibri" pitchFamily="34" charset="-122"/>
                <a:cs typeface="Calibri" pitchFamily="34" charset="-120"/>
              </a:rPr>
              <a:t>109 keywords in 10 survey families. Each keyword is assigned one of three tiers according to how ambiguous the term is in isolation.</a:t>
            </a:r>
            <a:endParaRPr lang="en-US" sz="1200" dirty="0"/>
          </a:p>
        </p:txBody>
      </p:sp>
      <p:sp>
        <p:nvSpPr>
          <p:cNvPr id="36" name="Shape 11">
            <a:extLst>
              <a:ext uri="{FF2B5EF4-FFF2-40B4-BE49-F238E27FC236}">
                <a16:creationId xmlns:a16="http://schemas.microsoft.com/office/drawing/2014/main" id="{7B10CA6B-DE43-63A0-3635-9E929144DA3F}"/>
              </a:ext>
            </a:extLst>
          </p:cNvPr>
          <p:cNvSpPr/>
          <p:nvPr/>
        </p:nvSpPr>
        <p:spPr>
          <a:xfrm>
            <a:off x="777240" y="3557016"/>
            <a:ext cx="10607040" cy="0"/>
          </a:xfrm>
          <a:prstGeom prst="line">
            <a:avLst/>
          </a:prstGeom>
          <a:noFill/>
          <a:ln w="9525">
            <a:solidFill>
              <a:srgbClr val="C7D2DD"/>
            </a:solidFill>
            <a:prstDash val="solid"/>
          </a:ln>
        </p:spPr>
        <p:txBody>
          <a:bodyPr/>
          <a:lstStyle/>
          <a:p>
            <a:endParaRPr lang="en-US"/>
          </a:p>
        </p:txBody>
      </p:sp>
      <p:sp>
        <p:nvSpPr>
          <p:cNvPr id="39" name="Text 12">
            <a:extLst>
              <a:ext uri="{FF2B5EF4-FFF2-40B4-BE49-F238E27FC236}">
                <a16:creationId xmlns:a16="http://schemas.microsoft.com/office/drawing/2014/main" id="{13613E7A-D74D-58BE-E542-168D6E13D84E}"/>
              </a:ext>
            </a:extLst>
          </p:cNvPr>
          <p:cNvSpPr/>
          <p:nvPr/>
        </p:nvSpPr>
        <p:spPr>
          <a:xfrm>
            <a:off x="777240" y="3575304"/>
            <a:ext cx="2103120" cy="749808"/>
          </a:xfrm>
          <a:prstGeom prst="rect">
            <a:avLst/>
          </a:prstGeom>
          <a:noFill/>
          <a:ln/>
        </p:spPr>
        <p:txBody>
          <a:bodyPr wrap="square" rtlCol="0" anchor="t"/>
          <a:lstStyle/>
          <a:p>
            <a:pPr marL="0" indent="0">
              <a:buNone/>
            </a:pPr>
            <a:r>
              <a:rPr lang="en-US" sz="1200" b="1" dirty="0">
                <a:solidFill>
                  <a:srgbClr val="004370"/>
                </a:solidFill>
                <a:latin typeface="Calibri" pitchFamily="34" charset="0"/>
                <a:ea typeface="Calibri" pitchFamily="34" charset="-122"/>
                <a:cs typeface="Calibri" pitchFamily="34" charset="-120"/>
              </a:rPr>
              <a:t>Decision rule</a:t>
            </a:r>
            <a:endParaRPr lang="en-US" sz="1200" dirty="0"/>
          </a:p>
        </p:txBody>
      </p:sp>
      <p:sp>
        <p:nvSpPr>
          <p:cNvPr id="41" name="Text 13">
            <a:extLst>
              <a:ext uri="{FF2B5EF4-FFF2-40B4-BE49-F238E27FC236}">
                <a16:creationId xmlns:a16="http://schemas.microsoft.com/office/drawing/2014/main" id="{2182CC60-F6B9-0D0B-E6EB-35472475E43B}"/>
              </a:ext>
            </a:extLst>
          </p:cNvPr>
          <p:cNvSpPr/>
          <p:nvPr/>
        </p:nvSpPr>
        <p:spPr>
          <a:xfrm>
            <a:off x="3017520" y="3575304"/>
            <a:ext cx="8321040" cy="749808"/>
          </a:xfrm>
          <a:prstGeom prst="rect">
            <a:avLst/>
          </a:prstGeom>
          <a:noFill/>
          <a:ln/>
        </p:spPr>
        <p:txBody>
          <a:bodyPr wrap="square" rtlCol="0" anchor="t"/>
          <a:lstStyle/>
          <a:p>
            <a:pPr marL="0" indent="0">
              <a:buNone/>
            </a:pPr>
            <a:r>
              <a:rPr lang="en-US" sz="1200" dirty="0">
                <a:solidFill>
                  <a:srgbClr val="222222"/>
                </a:solidFill>
                <a:latin typeface="Calibri" pitchFamily="34" charset="0"/>
                <a:ea typeface="Calibri" pitchFamily="34" charset="-122"/>
                <a:cs typeface="Calibri" pitchFamily="34" charset="-120"/>
              </a:rPr>
              <a:t>Two independent axes, identity and use, each scored on a 2 point threshold. A paper is retained only if both axes clear the threshold.</a:t>
            </a:r>
            <a:endParaRPr lang="en-US" sz="1200" dirty="0"/>
          </a:p>
        </p:txBody>
      </p:sp>
      <p:sp>
        <p:nvSpPr>
          <p:cNvPr id="43" name="Shape 14">
            <a:extLst>
              <a:ext uri="{FF2B5EF4-FFF2-40B4-BE49-F238E27FC236}">
                <a16:creationId xmlns:a16="http://schemas.microsoft.com/office/drawing/2014/main" id="{EA6769CA-617D-F541-F4F6-611B4514238A}"/>
              </a:ext>
            </a:extLst>
          </p:cNvPr>
          <p:cNvSpPr/>
          <p:nvPr/>
        </p:nvSpPr>
        <p:spPr>
          <a:xfrm>
            <a:off x="777240" y="4306824"/>
            <a:ext cx="10607040" cy="0"/>
          </a:xfrm>
          <a:prstGeom prst="line">
            <a:avLst/>
          </a:prstGeom>
          <a:noFill/>
          <a:ln w="9525">
            <a:solidFill>
              <a:srgbClr val="C7D2DD"/>
            </a:solidFill>
            <a:prstDash val="solid"/>
          </a:ln>
        </p:spPr>
        <p:txBody>
          <a:bodyPr/>
          <a:lstStyle/>
          <a:p>
            <a:endParaRPr lang="en-US"/>
          </a:p>
        </p:txBody>
      </p:sp>
      <p:sp>
        <p:nvSpPr>
          <p:cNvPr id="45" name="Text 15">
            <a:extLst>
              <a:ext uri="{FF2B5EF4-FFF2-40B4-BE49-F238E27FC236}">
                <a16:creationId xmlns:a16="http://schemas.microsoft.com/office/drawing/2014/main" id="{4FAFABE9-6BA0-E77C-C40B-36705EAC42A4}"/>
              </a:ext>
            </a:extLst>
          </p:cNvPr>
          <p:cNvSpPr/>
          <p:nvPr/>
        </p:nvSpPr>
        <p:spPr>
          <a:xfrm>
            <a:off x="777240" y="4325112"/>
            <a:ext cx="2103120" cy="749808"/>
          </a:xfrm>
          <a:prstGeom prst="rect">
            <a:avLst/>
          </a:prstGeom>
          <a:noFill/>
          <a:ln/>
        </p:spPr>
        <p:txBody>
          <a:bodyPr wrap="square" rtlCol="0" anchor="t"/>
          <a:lstStyle/>
          <a:p>
            <a:pPr marL="0" indent="0">
              <a:buNone/>
            </a:pPr>
            <a:r>
              <a:rPr lang="en-US" sz="1200" b="1" dirty="0">
                <a:solidFill>
                  <a:srgbClr val="004370"/>
                </a:solidFill>
                <a:latin typeface="Calibri" pitchFamily="34" charset="0"/>
                <a:ea typeface="Calibri" pitchFamily="34" charset="-122"/>
                <a:cs typeface="Calibri" pitchFamily="34" charset="-120"/>
              </a:rPr>
              <a:t>Output</a:t>
            </a:r>
            <a:endParaRPr lang="en-US" sz="1200" dirty="0"/>
          </a:p>
        </p:txBody>
      </p:sp>
      <p:sp>
        <p:nvSpPr>
          <p:cNvPr id="47" name="Text 16">
            <a:extLst>
              <a:ext uri="{FF2B5EF4-FFF2-40B4-BE49-F238E27FC236}">
                <a16:creationId xmlns:a16="http://schemas.microsoft.com/office/drawing/2014/main" id="{732C3DDA-3E71-75E1-0310-A75FDD06FECD}"/>
              </a:ext>
            </a:extLst>
          </p:cNvPr>
          <p:cNvSpPr/>
          <p:nvPr/>
        </p:nvSpPr>
        <p:spPr>
          <a:xfrm>
            <a:off x="3017520" y="4325112"/>
            <a:ext cx="8321040" cy="749808"/>
          </a:xfrm>
          <a:prstGeom prst="rect">
            <a:avLst/>
          </a:prstGeom>
          <a:noFill/>
          <a:ln/>
        </p:spPr>
        <p:txBody>
          <a:bodyPr wrap="square" rtlCol="0" anchor="t"/>
          <a:lstStyle/>
          <a:p>
            <a:pPr marL="0" indent="0">
              <a:buNone/>
            </a:pPr>
            <a:r>
              <a:rPr lang="en-US" sz="1200" dirty="0">
                <a:solidFill>
                  <a:srgbClr val="222222"/>
                </a:solidFill>
                <a:latin typeface="Calibri" pitchFamily="34" charset="0"/>
                <a:ea typeface="Calibri" pitchFamily="34" charset="-122"/>
                <a:cs typeface="Calibri" pitchFamily="34" charset="-120"/>
              </a:rPr>
              <a:t>One Excel workbook: discovered papers, analysis with charts, keyword register, search audit trail, and every excluded paper with the reason.</a:t>
            </a:r>
            <a:endParaRPr lang="en-US" sz="1200" dirty="0"/>
          </a:p>
        </p:txBody>
      </p:sp>
      <p:sp>
        <p:nvSpPr>
          <p:cNvPr id="49" name="Shape 17">
            <a:extLst>
              <a:ext uri="{FF2B5EF4-FFF2-40B4-BE49-F238E27FC236}">
                <a16:creationId xmlns:a16="http://schemas.microsoft.com/office/drawing/2014/main" id="{5CEF0994-B4CE-E1B2-4F37-10563A7C4081}"/>
              </a:ext>
            </a:extLst>
          </p:cNvPr>
          <p:cNvSpPr/>
          <p:nvPr/>
        </p:nvSpPr>
        <p:spPr>
          <a:xfrm>
            <a:off x="777240" y="5056632"/>
            <a:ext cx="10607040" cy="0"/>
          </a:xfrm>
          <a:prstGeom prst="line">
            <a:avLst/>
          </a:prstGeom>
          <a:noFill/>
          <a:ln w="9525">
            <a:solidFill>
              <a:srgbClr val="C7D2DD"/>
            </a:solidFill>
            <a:prstDash val="solid"/>
          </a:ln>
        </p:spPr>
        <p:txBody>
          <a:bodyPr/>
          <a:lstStyle/>
          <a:p>
            <a:endParaRPr lang="en-US"/>
          </a:p>
        </p:txBody>
      </p:sp>
      <p:sp>
        <p:nvSpPr>
          <p:cNvPr id="51" name="Text 18">
            <a:extLst>
              <a:ext uri="{FF2B5EF4-FFF2-40B4-BE49-F238E27FC236}">
                <a16:creationId xmlns:a16="http://schemas.microsoft.com/office/drawing/2014/main" id="{52FA75A3-C195-1D23-0348-4EF8B8C5939D}"/>
              </a:ext>
            </a:extLst>
          </p:cNvPr>
          <p:cNvSpPr/>
          <p:nvPr/>
        </p:nvSpPr>
        <p:spPr>
          <a:xfrm>
            <a:off x="777240" y="5074920"/>
            <a:ext cx="2103120" cy="749808"/>
          </a:xfrm>
          <a:prstGeom prst="rect">
            <a:avLst/>
          </a:prstGeom>
          <a:noFill/>
          <a:ln/>
        </p:spPr>
        <p:txBody>
          <a:bodyPr wrap="square" rtlCol="0" anchor="t"/>
          <a:lstStyle/>
          <a:p>
            <a:pPr marL="0" indent="0">
              <a:buNone/>
            </a:pPr>
            <a:r>
              <a:rPr lang="en-US" sz="1200" b="1" dirty="0">
                <a:solidFill>
                  <a:srgbClr val="004370"/>
                </a:solidFill>
                <a:latin typeface="Calibri" pitchFamily="34" charset="0"/>
                <a:ea typeface="Calibri" pitchFamily="34" charset="-122"/>
                <a:cs typeface="Calibri" pitchFamily="34" charset="-120"/>
              </a:rPr>
              <a:t>Cost</a:t>
            </a:r>
            <a:endParaRPr lang="en-US" sz="1200" dirty="0"/>
          </a:p>
        </p:txBody>
      </p:sp>
      <p:sp>
        <p:nvSpPr>
          <p:cNvPr id="53" name="Text 19">
            <a:extLst>
              <a:ext uri="{FF2B5EF4-FFF2-40B4-BE49-F238E27FC236}">
                <a16:creationId xmlns:a16="http://schemas.microsoft.com/office/drawing/2014/main" id="{FF7D237B-6BBA-B67C-CBA8-7899585D7F85}"/>
              </a:ext>
            </a:extLst>
          </p:cNvPr>
          <p:cNvSpPr/>
          <p:nvPr/>
        </p:nvSpPr>
        <p:spPr>
          <a:xfrm>
            <a:off x="3017520" y="5074920"/>
            <a:ext cx="8321040" cy="749808"/>
          </a:xfrm>
          <a:prstGeom prst="rect">
            <a:avLst/>
          </a:prstGeom>
          <a:noFill/>
          <a:ln/>
        </p:spPr>
        <p:txBody>
          <a:bodyPr wrap="square" rtlCol="0" anchor="t"/>
          <a:lstStyle/>
          <a:p>
            <a:pPr marL="0" indent="0">
              <a:buNone/>
            </a:pPr>
            <a:r>
              <a:rPr lang="en-US" sz="1200" dirty="0">
                <a:solidFill>
                  <a:srgbClr val="222222"/>
                </a:solidFill>
                <a:latin typeface="Calibri" pitchFamily="34" charset="0"/>
                <a:ea typeface="Calibri" pitchFamily="34" charset="-122"/>
                <a:cs typeface="Calibri" pitchFamily="34" charset="-120"/>
              </a:rPr>
              <a:t>Approximately $1.60 per full run. The free OpenAlex tier allows approximately two runs per day.</a:t>
            </a:r>
            <a:endParaRPr lang="en-US" sz="1200" dirty="0"/>
          </a:p>
        </p:txBody>
      </p:sp>
    </p:spTree>
    <p:extLst>
      <p:ext uri="{BB962C8B-B14F-4D97-AF65-F5344CB8AC3E}">
        <p14:creationId xmlns:p14="http://schemas.microsoft.com/office/powerpoint/2010/main" val="9196077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2" name="Image 0" descr="/home/claude/pptx_project/lsms_brand/content_bg.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94360" y="146304"/>
            <a:ext cx="10698480" cy="658368"/>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How the Pipeline Works</a:t>
            </a:r>
            <a:endParaRPr lang="en-US" sz="3000" dirty="0"/>
          </a:p>
        </p:txBody>
      </p:sp>
      <p:sp>
        <p:nvSpPr>
          <p:cNvPr id="4" name="Shape 1"/>
          <p:cNvSpPr/>
          <p:nvPr/>
        </p:nvSpPr>
        <p:spPr>
          <a:xfrm>
            <a:off x="777240" y="2148840"/>
            <a:ext cx="1874520" cy="1965960"/>
          </a:xfrm>
          <a:prstGeom prst="roundRect">
            <a:avLst>
              <a:gd name="adj" fmla="val 3902"/>
            </a:avLst>
          </a:prstGeom>
          <a:solidFill>
            <a:srgbClr val="163454"/>
          </a:solidFill>
          <a:ln/>
        </p:spPr>
        <p:txBody>
          <a:bodyPr/>
          <a:lstStyle/>
          <a:p>
            <a:endParaRPr lang="en-US"/>
          </a:p>
        </p:txBody>
      </p:sp>
      <p:sp>
        <p:nvSpPr>
          <p:cNvPr id="5" name="Text 2"/>
          <p:cNvSpPr/>
          <p:nvPr/>
        </p:nvSpPr>
        <p:spPr>
          <a:xfrm>
            <a:off x="868680" y="2404872"/>
            <a:ext cx="1691640" cy="54864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Input</a:t>
            </a:r>
            <a:endParaRPr lang="en-US" sz="1600" dirty="0"/>
          </a:p>
        </p:txBody>
      </p:sp>
      <p:sp>
        <p:nvSpPr>
          <p:cNvPr id="6" name="Text 3"/>
          <p:cNvSpPr/>
          <p:nvPr/>
        </p:nvSpPr>
        <p:spPr>
          <a:xfrm>
            <a:off x="868680" y="3017520"/>
            <a:ext cx="1691640" cy="822960"/>
          </a:xfrm>
          <a:prstGeom prst="rect">
            <a:avLst/>
          </a:prstGeom>
          <a:noFill/>
          <a:ln/>
        </p:spPr>
        <p:txBody>
          <a:bodyPr wrap="square" rtlCol="0" anchor="ctr"/>
          <a:lstStyle/>
          <a:p>
            <a:pPr marL="0" indent="0" algn="ctr">
              <a:buNone/>
            </a:pPr>
            <a:r>
              <a:rPr lang="en-US" sz="1250" dirty="0" err="1">
                <a:solidFill>
                  <a:srgbClr val="FFFFFF"/>
                </a:solidFill>
                <a:latin typeface="Calibri" pitchFamily="34" charset="0"/>
                <a:ea typeface="Calibri" pitchFamily="34" charset="-122"/>
                <a:cs typeface="Calibri" pitchFamily="34" charset="-120"/>
              </a:rPr>
              <a:t>OpenAlex</a:t>
            </a:r>
            <a:r>
              <a:rPr lang="en-US" sz="1250" dirty="0">
                <a:solidFill>
                  <a:srgbClr val="FFFFFF"/>
                </a:solidFill>
                <a:latin typeface="Calibri" pitchFamily="34" charset="0"/>
                <a:ea typeface="Calibri" pitchFamily="34" charset="-122"/>
                <a:cs typeface="Calibri" pitchFamily="34" charset="-120"/>
              </a:rPr>
              <a:t> API key,</a:t>
            </a:r>
            <a:endParaRPr lang="en-US" sz="1250" dirty="0"/>
          </a:p>
          <a:p>
            <a:pPr marL="0" indent="0" algn="ctr">
              <a:buNone/>
            </a:pPr>
            <a:r>
              <a:rPr lang="en-US" sz="1250" dirty="0">
                <a:solidFill>
                  <a:srgbClr val="FFFFFF"/>
                </a:solidFill>
                <a:latin typeface="Calibri" pitchFamily="34" charset="0"/>
                <a:ea typeface="Calibri" pitchFamily="34" charset="-122"/>
                <a:cs typeface="Calibri" pitchFamily="34" charset="-120"/>
              </a:rPr>
              <a:t>109 keywords</a:t>
            </a:r>
            <a:endParaRPr lang="en-US" sz="1250" dirty="0"/>
          </a:p>
        </p:txBody>
      </p:sp>
      <p:sp>
        <p:nvSpPr>
          <p:cNvPr id="7" name="Text 4"/>
          <p:cNvSpPr/>
          <p:nvPr/>
        </p:nvSpPr>
        <p:spPr>
          <a:xfrm>
            <a:off x="2651760" y="2148840"/>
            <a:ext cx="320040" cy="1965960"/>
          </a:xfrm>
          <a:prstGeom prst="rect">
            <a:avLst/>
          </a:prstGeom>
          <a:noFill/>
          <a:ln/>
        </p:spPr>
        <p:txBody>
          <a:bodyPr wrap="square" rtlCol="0" anchor="ctr"/>
          <a:lstStyle/>
          <a:p>
            <a:pPr marL="0" indent="0" algn="ctr">
              <a:buNone/>
            </a:pPr>
            <a:r>
              <a:rPr lang="en-US" sz="2600" b="1" dirty="0">
                <a:solidFill>
                  <a:srgbClr val="163454"/>
                </a:solidFill>
                <a:latin typeface="Calibri" pitchFamily="34" charset="0"/>
                <a:ea typeface="Calibri" pitchFamily="34" charset="-122"/>
                <a:cs typeface="Calibri" pitchFamily="34" charset="-120"/>
              </a:rPr>
              <a:t>→</a:t>
            </a:r>
            <a:endParaRPr lang="en-US" sz="2600" dirty="0"/>
          </a:p>
        </p:txBody>
      </p:sp>
      <p:sp>
        <p:nvSpPr>
          <p:cNvPr id="8" name="Shape 5"/>
          <p:cNvSpPr/>
          <p:nvPr/>
        </p:nvSpPr>
        <p:spPr>
          <a:xfrm>
            <a:off x="2971800" y="2148840"/>
            <a:ext cx="1874520" cy="1965960"/>
          </a:xfrm>
          <a:prstGeom prst="roundRect">
            <a:avLst>
              <a:gd name="adj" fmla="val 3902"/>
            </a:avLst>
          </a:prstGeom>
          <a:solidFill>
            <a:srgbClr val="1389C6"/>
          </a:solidFill>
          <a:ln/>
        </p:spPr>
        <p:txBody>
          <a:bodyPr/>
          <a:lstStyle/>
          <a:p>
            <a:endParaRPr lang="en-US"/>
          </a:p>
        </p:txBody>
      </p:sp>
      <p:sp>
        <p:nvSpPr>
          <p:cNvPr id="9" name="Text 6"/>
          <p:cNvSpPr/>
          <p:nvPr/>
        </p:nvSpPr>
        <p:spPr>
          <a:xfrm>
            <a:off x="3063240" y="2404872"/>
            <a:ext cx="1691640" cy="54864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Gate 1</a:t>
            </a:r>
            <a:endParaRPr lang="en-US" sz="1600" dirty="0"/>
          </a:p>
        </p:txBody>
      </p:sp>
      <p:sp>
        <p:nvSpPr>
          <p:cNvPr id="10" name="Text 7"/>
          <p:cNvSpPr/>
          <p:nvPr/>
        </p:nvSpPr>
        <p:spPr>
          <a:xfrm>
            <a:off x="3063240" y="3017520"/>
            <a:ext cx="1691640" cy="822960"/>
          </a:xfrm>
          <a:prstGeom prst="rect">
            <a:avLst/>
          </a:prstGeom>
          <a:noFill/>
          <a:ln/>
        </p:spPr>
        <p:txBody>
          <a:bodyPr wrap="square" rtlCol="0" anchor="ctr"/>
          <a:lstStyle/>
          <a:p>
            <a:pPr marL="0" indent="0" algn="ctr">
              <a:buNone/>
            </a:pPr>
            <a:r>
              <a:rPr lang="en-US" sz="1250" dirty="0">
                <a:solidFill>
                  <a:srgbClr val="FFFFFF"/>
                </a:solidFill>
                <a:latin typeface="Calibri" pitchFamily="34" charset="0"/>
                <a:ea typeface="Calibri" pitchFamily="34" charset="-122"/>
                <a:cs typeface="Calibri" pitchFamily="34" charset="-120"/>
              </a:rPr>
              <a:t>Keyword</a:t>
            </a:r>
            <a:endParaRPr lang="en-US" sz="1250" dirty="0"/>
          </a:p>
          <a:p>
            <a:pPr marL="0" indent="0" algn="ctr">
              <a:buNone/>
            </a:pPr>
            <a:r>
              <a:rPr lang="en-US" sz="1250" dirty="0">
                <a:solidFill>
                  <a:srgbClr val="FFFFFF"/>
                </a:solidFill>
                <a:latin typeface="Calibri" pitchFamily="34" charset="0"/>
                <a:ea typeface="Calibri" pitchFamily="34" charset="-122"/>
                <a:cs typeface="Calibri" pitchFamily="34" charset="-120"/>
              </a:rPr>
              <a:t>search</a:t>
            </a:r>
            <a:endParaRPr lang="en-US" sz="1250" dirty="0"/>
          </a:p>
        </p:txBody>
      </p:sp>
      <p:sp>
        <p:nvSpPr>
          <p:cNvPr id="11" name="Text 8"/>
          <p:cNvSpPr/>
          <p:nvPr/>
        </p:nvSpPr>
        <p:spPr>
          <a:xfrm>
            <a:off x="4846320" y="2148840"/>
            <a:ext cx="320040" cy="1965960"/>
          </a:xfrm>
          <a:prstGeom prst="rect">
            <a:avLst/>
          </a:prstGeom>
          <a:noFill/>
          <a:ln/>
        </p:spPr>
        <p:txBody>
          <a:bodyPr wrap="square" rtlCol="0" anchor="ctr"/>
          <a:lstStyle/>
          <a:p>
            <a:pPr marL="0" indent="0" algn="ctr">
              <a:buNone/>
            </a:pPr>
            <a:r>
              <a:rPr lang="en-US" sz="2600" b="1" dirty="0">
                <a:solidFill>
                  <a:srgbClr val="163454"/>
                </a:solidFill>
                <a:latin typeface="Calibri" pitchFamily="34" charset="0"/>
                <a:ea typeface="Calibri" pitchFamily="34" charset="-122"/>
                <a:cs typeface="Calibri" pitchFamily="34" charset="-120"/>
              </a:rPr>
              <a:t>→</a:t>
            </a:r>
            <a:endParaRPr lang="en-US" sz="2600" dirty="0"/>
          </a:p>
        </p:txBody>
      </p:sp>
      <p:sp>
        <p:nvSpPr>
          <p:cNvPr id="12" name="Shape 9"/>
          <p:cNvSpPr/>
          <p:nvPr/>
        </p:nvSpPr>
        <p:spPr>
          <a:xfrm>
            <a:off x="5166360" y="2148840"/>
            <a:ext cx="1874520" cy="1965960"/>
          </a:xfrm>
          <a:prstGeom prst="roundRect">
            <a:avLst>
              <a:gd name="adj" fmla="val 3902"/>
            </a:avLst>
          </a:prstGeom>
          <a:solidFill>
            <a:srgbClr val="1389C6"/>
          </a:solidFill>
          <a:ln/>
        </p:spPr>
        <p:txBody>
          <a:bodyPr/>
          <a:lstStyle/>
          <a:p>
            <a:endParaRPr lang="en-US"/>
          </a:p>
        </p:txBody>
      </p:sp>
      <p:sp>
        <p:nvSpPr>
          <p:cNvPr id="13" name="Text 10"/>
          <p:cNvSpPr/>
          <p:nvPr/>
        </p:nvSpPr>
        <p:spPr>
          <a:xfrm>
            <a:off x="5257800" y="2404872"/>
            <a:ext cx="1691640" cy="54864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Gate 2</a:t>
            </a:r>
            <a:endParaRPr lang="en-US" sz="1600" dirty="0"/>
          </a:p>
        </p:txBody>
      </p:sp>
      <p:sp>
        <p:nvSpPr>
          <p:cNvPr id="14" name="Text 11"/>
          <p:cNvSpPr/>
          <p:nvPr/>
        </p:nvSpPr>
        <p:spPr>
          <a:xfrm>
            <a:off x="5257800" y="3017520"/>
            <a:ext cx="1691640" cy="822960"/>
          </a:xfrm>
          <a:prstGeom prst="rect">
            <a:avLst/>
          </a:prstGeom>
          <a:noFill/>
          <a:ln/>
        </p:spPr>
        <p:txBody>
          <a:bodyPr wrap="square" rtlCol="0" anchor="ctr"/>
          <a:lstStyle/>
          <a:p>
            <a:pPr marL="0" indent="0" algn="ctr">
              <a:buNone/>
            </a:pPr>
            <a:r>
              <a:rPr lang="en-US" sz="1250" dirty="0">
                <a:solidFill>
                  <a:srgbClr val="FFFFFF"/>
                </a:solidFill>
                <a:latin typeface="Calibri" pitchFamily="34" charset="0"/>
                <a:ea typeface="Calibri" pitchFamily="34" charset="-122"/>
                <a:cs typeface="Calibri" pitchFamily="34" charset="-120"/>
              </a:rPr>
              <a:t>Relevance</a:t>
            </a:r>
            <a:endParaRPr lang="en-US" sz="1250" dirty="0"/>
          </a:p>
          <a:p>
            <a:pPr marL="0" indent="0" algn="ctr">
              <a:buNone/>
            </a:pPr>
            <a:r>
              <a:rPr lang="en-US" sz="1250" dirty="0">
                <a:solidFill>
                  <a:srgbClr val="FFFFFF"/>
                </a:solidFill>
                <a:latin typeface="Calibri" pitchFamily="34" charset="0"/>
                <a:ea typeface="Calibri" pitchFamily="34" charset="-122"/>
                <a:cs typeface="Calibri" pitchFamily="34" charset="-120"/>
              </a:rPr>
              <a:t>scoring</a:t>
            </a:r>
            <a:endParaRPr lang="en-US" sz="1250" dirty="0"/>
          </a:p>
        </p:txBody>
      </p:sp>
      <p:sp>
        <p:nvSpPr>
          <p:cNvPr id="15" name="Text 12"/>
          <p:cNvSpPr/>
          <p:nvPr/>
        </p:nvSpPr>
        <p:spPr>
          <a:xfrm>
            <a:off x="7040880" y="2148840"/>
            <a:ext cx="320040" cy="1965960"/>
          </a:xfrm>
          <a:prstGeom prst="rect">
            <a:avLst/>
          </a:prstGeom>
          <a:noFill/>
          <a:ln/>
        </p:spPr>
        <p:txBody>
          <a:bodyPr wrap="square" rtlCol="0" anchor="ctr"/>
          <a:lstStyle/>
          <a:p>
            <a:pPr marL="0" indent="0" algn="ctr">
              <a:buNone/>
            </a:pPr>
            <a:r>
              <a:rPr lang="en-US" sz="2600" b="1" dirty="0">
                <a:solidFill>
                  <a:srgbClr val="163454"/>
                </a:solidFill>
                <a:latin typeface="Calibri" pitchFamily="34" charset="0"/>
                <a:ea typeface="Calibri" pitchFamily="34" charset="-122"/>
                <a:cs typeface="Calibri" pitchFamily="34" charset="-120"/>
              </a:rPr>
              <a:t>→</a:t>
            </a:r>
            <a:endParaRPr lang="en-US" sz="2600" dirty="0"/>
          </a:p>
        </p:txBody>
      </p:sp>
      <p:sp>
        <p:nvSpPr>
          <p:cNvPr id="16" name="Shape 13"/>
          <p:cNvSpPr/>
          <p:nvPr/>
        </p:nvSpPr>
        <p:spPr>
          <a:xfrm>
            <a:off x="7360920" y="2148840"/>
            <a:ext cx="1874520" cy="1965960"/>
          </a:xfrm>
          <a:prstGeom prst="roundRect">
            <a:avLst>
              <a:gd name="adj" fmla="val 3902"/>
            </a:avLst>
          </a:prstGeom>
          <a:solidFill>
            <a:srgbClr val="ED7D31"/>
          </a:solidFill>
          <a:ln/>
        </p:spPr>
        <p:txBody>
          <a:bodyPr/>
          <a:lstStyle/>
          <a:p>
            <a:endParaRPr lang="en-US"/>
          </a:p>
        </p:txBody>
      </p:sp>
      <p:sp>
        <p:nvSpPr>
          <p:cNvPr id="17" name="Text 14"/>
          <p:cNvSpPr/>
          <p:nvPr/>
        </p:nvSpPr>
        <p:spPr>
          <a:xfrm>
            <a:off x="7452360" y="2404872"/>
            <a:ext cx="1691640" cy="54864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Exclusion Filter</a:t>
            </a:r>
            <a:endParaRPr lang="en-US" sz="1600" dirty="0"/>
          </a:p>
        </p:txBody>
      </p:sp>
      <p:sp>
        <p:nvSpPr>
          <p:cNvPr id="18" name="Text 15"/>
          <p:cNvSpPr/>
          <p:nvPr/>
        </p:nvSpPr>
        <p:spPr>
          <a:xfrm>
            <a:off x="7452360" y="3017520"/>
            <a:ext cx="1691640" cy="822960"/>
          </a:xfrm>
          <a:prstGeom prst="rect">
            <a:avLst/>
          </a:prstGeom>
          <a:noFill/>
          <a:ln/>
        </p:spPr>
        <p:txBody>
          <a:bodyPr wrap="square" rtlCol="0" anchor="ctr"/>
          <a:lstStyle/>
          <a:p>
            <a:pPr marL="0" indent="0" algn="ctr">
              <a:buNone/>
            </a:pPr>
            <a:r>
              <a:rPr lang="en-US" sz="1250" dirty="0">
                <a:solidFill>
                  <a:srgbClr val="FFFFFF"/>
                </a:solidFill>
                <a:latin typeface="Calibri" pitchFamily="34" charset="0"/>
                <a:ea typeface="Calibri" pitchFamily="34" charset="-122"/>
                <a:cs typeface="Calibri" pitchFamily="34" charset="-120"/>
              </a:rPr>
              <a:t>Remove false</a:t>
            </a:r>
            <a:endParaRPr lang="en-US" sz="1250" dirty="0"/>
          </a:p>
          <a:p>
            <a:pPr marL="0" indent="0" algn="ctr">
              <a:buNone/>
            </a:pPr>
            <a:r>
              <a:rPr lang="en-US" sz="1250" dirty="0">
                <a:solidFill>
                  <a:srgbClr val="FFFFFF"/>
                </a:solidFill>
                <a:latin typeface="Calibri" pitchFamily="34" charset="0"/>
                <a:ea typeface="Calibri" pitchFamily="34" charset="-122"/>
                <a:cs typeface="Calibri" pitchFamily="34" charset="-120"/>
              </a:rPr>
              <a:t>positives</a:t>
            </a:r>
            <a:endParaRPr lang="en-US" sz="1250" dirty="0"/>
          </a:p>
        </p:txBody>
      </p:sp>
      <p:sp>
        <p:nvSpPr>
          <p:cNvPr id="19" name="Text 16"/>
          <p:cNvSpPr/>
          <p:nvPr/>
        </p:nvSpPr>
        <p:spPr>
          <a:xfrm>
            <a:off x="9235440" y="2148840"/>
            <a:ext cx="320040" cy="1965960"/>
          </a:xfrm>
          <a:prstGeom prst="rect">
            <a:avLst/>
          </a:prstGeom>
          <a:noFill/>
          <a:ln/>
        </p:spPr>
        <p:txBody>
          <a:bodyPr wrap="square" rtlCol="0" anchor="ctr"/>
          <a:lstStyle/>
          <a:p>
            <a:pPr marL="0" indent="0" algn="ctr">
              <a:buNone/>
            </a:pPr>
            <a:r>
              <a:rPr lang="en-US" sz="2600" b="1" dirty="0">
                <a:solidFill>
                  <a:srgbClr val="163454"/>
                </a:solidFill>
                <a:latin typeface="Calibri" pitchFamily="34" charset="0"/>
                <a:ea typeface="Calibri" pitchFamily="34" charset="-122"/>
                <a:cs typeface="Calibri" pitchFamily="34" charset="-120"/>
              </a:rPr>
              <a:t>→</a:t>
            </a:r>
            <a:endParaRPr lang="en-US" sz="2600" dirty="0"/>
          </a:p>
        </p:txBody>
      </p:sp>
      <p:sp>
        <p:nvSpPr>
          <p:cNvPr id="20" name="Shape 17"/>
          <p:cNvSpPr/>
          <p:nvPr/>
        </p:nvSpPr>
        <p:spPr>
          <a:xfrm>
            <a:off x="9555480" y="2148840"/>
            <a:ext cx="1874520" cy="1965960"/>
          </a:xfrm>
          <a:prstGeom prst="roundRect">
            <a:avLst>
              <a:gd name="adj" fmla="val 3902"/>
            </a:avLst>
          </a:prstGeom>
          <a:solidFill>
            <a:srgbClr val="70AD47"/>
          </a:solidFill>
          <a:ln/>
        </p:spPr>
        <p:txBody>
          <a:bodyPr/>
          <a:lstStyle/>
          <a:p>
            <a:endParaRPr lang="en-US"/>
          </a:p>
        </p:txBody>
      </p:sp>
      <p:sp>
        <p:nvSpPr>
          <p:cNvPr id="21" name="Text 18"/>
          <p:cNvSpPr/>
          <p:nvPr/>
        </p:nvSpPr>
        <p:spPr>
          <a:xfrm>
            <a:off x="9646920" y="2404872"/>
            <a:ext cx="1691640" cy="54864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Output</a:t>
            </a:r>
            <a:endParaRPr lang="en-US" sz="1600" dirty="0"/>
          </a:p>
        </p:txBody>
      </p:sp>
      <p:sp>
        <p:nvSpPr>
          <p:cNvPr id="22" name="Text 19"/>
          <p:cNvSpPr/>
          <p:nvPr/>
        </p:nvSpPr>
        <p:spPr>
          <a:xfrm>
            <a:off x="9646920" y="3017520"/>
            <a:ext cx="1691640" cy="822960"/>
          </a:xfrm>
          <a:prstGeom prst="rect">
            <a:avLst/>
          </a:prstGeom>
          <a:noFill/>
          <a:ln/>
        </p:spPr>
        <p:txBody>
          <a:bodyPr wrap="square" rtlCol="0" anchor="ctr"/>
          <a:lstStyle/>
          <a:p>
            <a:pPr marL="0" indent="0" algn="ctr">
              <a:buNone/>
            </a:pPr>
            <a:r>
              <a:rPr lang="en-US" sz="1250" dirty="0">
                <a:solidFill>
                  <a:srgbClr val="FFFFFF"/>
                </a:solidFill>
                <a:latin typeface="Calibri" pitchFamily="34" charset="0"/>
                <a:ea typeface="Calibri" pitchFamily="34" charset="-122"/>
                <a:cs typeface="Calibri" pitchFamily="34" charset="-120"/>
              </a:rPr>
              <a:t>Excel</a:t>
            </a:r>
            <a:endParaRPr lang="en-US" sz="1250" dirty="0"/>
          </a:p>
          <a:p>
            <a:pPr marL="0" indent="0" algn="ctr">
              <a:buNone/>
            </a:pPr>
            <a:r>
              <a:rPr lang="en-US" sz="1250" dirty="0">
                <a:solidFill>
                  <a:srgbClr val="FFFFFF"/>
                </a:solidFill>
                <a:latin typeface="Calibri" pitchFamily="34" charset="0"/>
                <a:ea typeface="Calibri" pitchFamily="34" charset="-122"/>
                <a:cs typeface="Calibri" pitchFamily="34" charset="-120"/>
              </a:rPr>
              <a:t>workbook</a:t>
            </a:r>
            <a:endParaRPr lang="en-US" sz="1250" dirty="0"/>
          </a:p>
        </p:txBody>
      </p:sp>
      <p:sp>
        <p:nvSpPr>
          <p:cNvPr id="23" name="Text 20"/>
          <p:cNvSpPr/>
          <p:nvPr/>
        </p:nvSpPr>
        <p:spPr>
          <a:xfrm>
            <a:off x="640080" y="1559309"/>
            <a:ext cx="10607040" cy="457200"/>
          </a:xfrm>
          <a:prstGeom prst="rect">
            <a:avLst/>
          </a:prstGeom>
          <a:noFill/>
          <a:ln/>
        </p:spPr>
        <p:txBody>
          <a:bodyPr wrap="square" rtlCol="0" anchor="ctr"/>
          <a:lstStyle/>
          <a:p>
            <a:pPr marL="0" indent="0" algn="ctr">
              <a:buNone/>
            </a:pPr>
            <a:r>
              <a:rPr lang="en-US" sz="1500" i="1" dirty="0">
                <a:solidFill>
                  <a:srgbClr val="5B6472"/>
                </a:solidFill>
                <a:latin typeface="Calibri" pitchFamily="34" charset="0"/>
                <a:ea typeface="Calibri" pitchFamily="34" charset="-122"/>
                <a:cs typeface="Calibri" pitchFamily="34" charset="-120"/>
              </a:rPr>
              <a:t>Five stages, from a free API key to a validated Excel workbook.</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8B73618-980D-CC16-B035-86A81A59CB31}"/>
            </a:ext>
          </a:extLst>
        </p:cNvPr>
        <p:cNvGrpSpPr/>
        <p:nvPr/>
      </p:nvGrpSpPr>
      <p:grpSpPr>
        <a:xfrm>
          <a:off x="0" y="0"/>
          <a:ext cx="0" cy="0"/>
          <a:chOff x="0" y="0"/>
          <a:chExt cx="0" cy="0"/>
        </a:xfrm>
      </p:grpSpPr>
      <p:pic>
        <p:nvPicPr>
          <p:cNvPr id="2" name="Image 0" descr="/home/claude/pptx_project/lsms_brand/content_bg.png">
            <a:extLst>
              <a:ext uri="{FF2B5EF4-FFF2-40B4-BE49-F238E27FC236}">
                <a16:creationId xmlns:a16="http://schemas.microsoft.com/office/drawing/2014/main" id="{90C7D557-FA28-2482-B69D-090B9FAA39AD}"/>
              </a:ext>
            </a:extLst>
          </p:cNvPr>
          <p:cNvPicPr>
            <a:picLocks noChangeAspect="1"/>
          </p:cNvPicPr>
          <p:nvPr/>
        </p:nvPicPr>
        <p:blipFill>
          <a:blip r:embed="rId3"/>
          <a:stretch>
            <a:fillRect/>
          </a:stretch>
        </p:blipFill>
        <p:spPr>
          <a:xfrm>
            <a:off x="0" y="0"/>
            <a:ext cx="12191695" cy="6858000"/>
          </a:xfrm>
          <a:prstGeom prst="rect">
            <a:avLst/>
          </a:prstGeom>
        </p:spPr>
      </p:pic>
      <p:sp>
        <p:nvSpPr>
          <p:cNvPr id="3" name="Text 0">
            <a:extLst>
              <a:ext uri="{FF2B5EF4-FFF2-40B4-BE49-F238E27FC236}">
                <a16:creationId xmlns:a16="http://schemas.microsoft.com/office/drawing/2014/main" id="{FD974E57-F9E1-8C84-3554-6E37956BD197}"/>
              </a:ext>
            </a:extLst>
          </p:cNvPr>
          <p:cNvSpPr/>
          <p:nvPr/>
        </p:nvSpPr>
        <p:spPr>
          <a:xfrm>
            <a:off x="594360" y="146304"/>
            <a:ext cx="10698480" cy="658368"/>
          </a:xfrm>
          <a:prstGeom prst="rect">
            <a:avLst/>
          </a:prstGeom>
          <a:noFill/>
          <a:ln/>
        </p:spPr>
        <p:txBody>
          <a:bodyPr wrap="square" rtlCol="0" anchor="ctr"/>
          <a:lstStyle/>
          <a:p>
            <a:r>
              <a:rPr lang="en-US" sz="3000" b="1" dirty="0">
                <a:solidFill>
                  <a:srgbClr val="FFFFFF"/>
                </a:solidFill>
                <a:latin typeface="Calibri" pitchFamily="34" charset="0"/>
                <a:ea typeface="Calibri" pitchFamily="34" charset="-122"/>
                <a:cs typeface="Calibri" pitchFamily="34" charset="-120"/>
              </a:rPr>
              <a:t>Discovery: Keyword Search (Gate 1)</a:t>
            </a:r>
            <a:endParaRPr lang="en-US" sz="3000" dirty="0"/>
          </a:p>
        </p:txBody>
      </p:sp>
      <p:sp>
        <p:nvSpPr>
          <p:cNvPr id="44" name="Shape 2">
            <a:extLst>
              <a:ext uri="{FF2B5EF4-FFF2-40B4-BE49-F238E27FC236}">
                <a16:creationId xmlns:a16="http://schemas.microsoft.com/office/drawing/2014/main" id="{C985FCE7-8EFE-CE44-EA57-533B4B647B4F}"/>
              </a:ext>
            </a:extLst>
          </p:cNvPr>
          <p:cNvSpPr/>
          <p:nvPr/>
        </p:nvSpPr>
        <p:spPr>
          <a:xfrm>
            <a:off x="502920" y="978407"/>
            <a:ext cx="11183112" cy="5241418"/>
          </a:xfrm>
          <a:prstGeom prst="roundRect">
            <a:avLst>
              <a:gd name="adj" fmla="val 1132"/>
            </a:avLst>
          </a:prstGeom>
          <a:solidFill>
            <a:srgbClr val="FFFFFF"/>
          </a:solidFill>
          <a:ln w="9525">
            <a:solidFill>
              <a:srgbClr val="C7D2DD"/>
            </a:solidFill>
            <a:prstDash val="solid"/>
          </a:ln>
          <a:effectLst>
            <a:outerShdw blurRad="127000" dist="38100" dir="5400000" algn="bl" rotWithShape="0">
              <a:srgbClr val="000000">
                <a:alpha val="12000"/>
              </a:srgbClr>
            </a:outerShdw>
          </a:effectLst>
        </p:spPr>
        <p:txBody>
          <a:bodyPr/>
          <a:lstStyle/>
          <a:p>
            <a:endParaRPr lang="en-US"/>
          </a:p>
        </p:txBody>
      </p:sp>
      <p:sp>
        <p:nvSpPr>
          <p:cNvPr id="46" name="Shape 3">
            <a:extLst>
              <a:ext uri="{FF2B5EF4-FFF2-40B4-BE49-F238E27FC236}">
                <a16:creationId xmlns:a16="http://schemas.microsoft.com/office/drawing/2014/main" id="{9A6BDE56-EE47-C3AE-F3EC-CE31F8639C38}"/>
              </a:ext>
            </a:extLst>
          </p:cNvPr>
          <p:cNvSpPr/>
          <p:nvPr/>
        </p:nvSpPr>
        <p:spPr>
          <a:xfrm>
            <a:off x="719176" y="1163507"/>
            <a:ext cx="64008" cy="201168"/>
          </a:xfrm>
          <a:prstGeom prst="rect">
            <a:avLst/>
          </a:prstGeom>
          <a:solidFill>
            <a:srgbClr val="169AF3"/>
          </a:solidFill>
          <a:ln/>
        </p:spPr>
        <p:txBody>
          <a:bodyPr/>
          <a:lstStyle/>
          <a:p>
            <a:endParaRPr lang="en-US"/>
          </a:p>
        </p:txBody>
      </p:sp>
      <p:sp>
        <p:nvSpPr>
          <p:cNvPr id="48" name="Text 4">
            <a:extLst>
              <a:ext uri="{FF2B5EF4-FFF2-40B4-BE49-F238E27FC236}">
                <a16:creationId xmlns:a16="http://schemas.microsoft.com/office/drawing/2014/main" id="{C40B9F98-E1D6-7793-92E0-54664C59848E}"/>
              </a:ext>
            </a:extLst>
          </p:cNvPr>
          <p:cNvSpPr/>
          <p:nvPr/>
        </p:nvSpPr>
        <p:spPr>
          <a:xfrm>
            <a:off x="883768" y="1136075"/>
            <a:ext cx="7315200" cy="274320"/>
          </a:xfrm>
          <a:prstGeom prst="rect">
            <a:avLst/>
          </a:prstGeom>
          <a:noFill/>
          <a:ln/>
        </p:spPr>
        <p:txBody>
          <a:bodyPr wrap="square" rtlCol="0" anchor="ctr"/>
          <a:lstStyle/>
          <a:p>
            <a:pPr marL="0" indent="0">
              <a:buNone/>
            </a:pPr>
            <a:r>
              <a:rPr lang="en-US" sz="1250" b="1" kern="0" spc="100" dirty="0">
                <a:solidFill>
                  <a:srgbClr val="004370"/>
                </a:solidFill>
                <a:latin typeface="Calibri" pitchFamily="34" charset="0"/>
                <a:ea typeface="Calibri" pitchFamily="34" charset="-122"/>
                <a:cs typeface="Calibri" pitchFamily="34" charset="-120"/>
              </a:rPr>
              <a:t>APPROACH</a:t>
            </a:r>
            <a:endParaRPr lang="en-US" sz="1250" dirty="0"/>
          </a:p>
        </p:txBody>
      </p:sp>
      <p:sp>
        <p:nvSpPr>
          <p:cNvPr id="50" name="Text 5">
            <a:extLst>
              <a:ext uri="{FF2B5EF4-FFF2-40B4-BE49-F238E27FC236}">
                <a16:creationId xmlns:a16="http://schemas.microsoft.com/office/drawing/2014/main" id="{90B5793C-A9FF-48A1-2E79-A904AB30E52D}"/>
              </a:ext>
            </a:extLst>
          </p:cNvPr>
          <p:cNvSpPr/>
          <p:nvPr/>
        </p:nvSpPr>
        <p:spPr>
          <a:xfrm>
            <a:off x="737817" y="1373522"/>
            <a:ext cx="10698480" cy="1188720"/>
          </a:xfrm>
          <a:prstGeom prst="rect">
            <a:avLst/>
          </a:prstGeom>
          <a:noFill/>
          <a:ln/>
        </p:spPr>
        <p:txBody>
          <a:bodyPr wrap="square" rtlCol="0" anchor="t"/>
          <a:lstStyle/>
          <a:p>
            <a:pPr marL="177800" indent="-177800">
              <a:spcAft>
                <a:spcPts val="800"/>
              </a:spcAft>
              <a:buSzPct val="100000"/>
              <a:buChar char="•"/>
            </a:pPr>
            <a:r>
              <a:rPr lang="en-US" sz="1600" dirty="0">
                <a:solidFill>
                  <a:srgbClr val="222222"/>
                </a:solidFill>
                <a:latin typeface="Calibri" pitchFamily="34" charset="0"/>
                <a:ea typeface="Calibri" pitchFamily="34" charset="-122"/>
                <a:cs typeface="Calibri" pitchFamily="34" charset="-120"/>
              </a:rPr>
              <a:t>109 keywords across the ten survey families, derived from the team’s existing keyword list.</a:t>
            </a:r>
            <a:endParaRPr lang="en-US" sz="1600" dirty="0"/>
          </a:p>
          <a:p>
            <a:pPr marL="177800" indent="-177800">
              <a:spcAft>
                <a:spcPts val="800"/>
              </a:spcAft>
              <a:buSzPct val="100000"/>
              <a:buChar char="•"/>
            </a:pPr>
            <a:r>
              <a:rPr lang="en-US" sz="1600" dirty="0">
                <a:solidFill>
                  <a:srgbClr val="222222"/>
                </a:solidFill>
                <a:latin typeface="Calibri" pitchFamily="34" charset="0"/>
                <a:ea typeface="Calibri" pitchFamily="34" charset="-122"/>
                <a:cs typeface="Calibri" pitchFamily="34" charset="-120"/>
              </a:rPr>
              <a:t>Recall is prioritized over precision at this stage. Missing a paper here is permanent; an irrelevant match is filtered in Gate 2.</a:t>
            </a:r>
            <a:endParaRPr lang="en-US" sz="1600" dirty="0"/>
          </a:p>
          <a:p>
            <a:pPr marL="177800" indent="-177800">
              <a:spcAft>
                <a:spcPts val="800"/>
              </a:spcAft>
              <a:buSzPct val="100000"/>
              <a:buChar char="•"/>
            </a:pPr>
            <a:r>
              <a:rPr lang="en-US" sz="1600" dirty="0">
                <a:solidFill>
                  <a:srgbClr val="222222"/>
                </a:solidFill>
                <a:latin typeface="Calibri" pitchFamily="34" charset="0"/>
                <a:ea typeface="Calibri" pitchFamily="34" charset="-122"/>
                <a:cs typeface="Calibri" pitchFamily="34" charset="-120"/>
              </a:rPr>
              <a:t>Each keyword is assigned to one of three tiers by how ambiguous the term is in isolation.</a:t>
            </a:r>
            <a:endParaRPr lang="en-US" sz="1600" dirty="0"/>
          </a:p>
        </p:txBody>
      </p:sp>
      <p:sp>
        <p:nvSpPr>
          <p:cNvPr id="52" name="Text 6">
            <a:extLst>
              <a:ext uri="{FF2B5EF4-FFF2-40B4-BE49-F238E27FC236}">
                <a16:creationId xmlns:a16="http://schemas.microsoft.com/office/drawing/2014/main" id="{66CFD0C7-0D83-7F92-2850-58474E38DC0B}"/>
              </a:ext>
            </a:extLst>
          </p:cNvPr>
          <p:cNvSpPr/>
          <p:nvPr/>
        </p:nvSpPr>
        <p:spPr>
          <a:xfrm>
            <a:off x="856336" y="2506974"/>
            <a:ext cx="1188720" cy="274320"/>
          </a:xfrm>
          <a:prstGeom prst="rect">
            <a:avLst/>
          </a:prstGeom>
          <a:noFill/>
          <a:ln/>
        </p:spPr>
        <p:txBody>
          <a:bodyPr wrap="square" rtlCol="0" anchor="ctr"/>
          <a:lstStyle/>
          <a:p>
            <a:pPr marL="0" indent="0">
              <a:buNone/>
            </a:pPr>
            <a:r>
              <a:rPr lang="en-US" sz="1150" b="1" dirty="0">
                <a:solidFill>
                  <a:srgbClr val="004370"/>
                </a:solidFill>
                <a:latin typeface="Calibri" pitchFamily="34" charset="0"/>
                <a:ea typeface="Calibri" pitchFamily="34" charset="-122"/>
                <a:cs typeface="Calibri" pitchFamily="34" charset="-120"/>
              </a:rPr>
              <a:t>Tier</a:t>
            </a:r>
            <a:endParaRPr lang="en-US" sz="1150" dirty="0"/>
          </a:p>
        </p:txBody>
      </p:sp>
      <p:sp>
        <p:nvSpPr>
          <p:cNvPr id="54" name="Text 7">
            <a:extLst>
              <a:ext uri="{FF2B5EF4-FFF2-40B4-BE49-F238E27FC236}">
                <a16:creationId xmlns:a16="http://schemas.microsoft.com/office/drawing/2014/main" id="{30A5B683-E636-DFD4-A6C7-93937A90F748}"/>
              </a:ext>
            </a:extLst>
          </p:cNvPr>
          <p:cNvSpPr/>
          <p:nvPr/>
        </p:nvSpPr>
        <p:spPr>
          <a:xfrm>
            <a:off x="2090776" y="2506974"/>
            <a:ext cx="914400" cy="274320"/>
          </a:xfrm>
          <a:prstGeom prst="rect">
            <a:avLst/>
          </a:prstGeom>
          <a:noFill/>
          <a:ln/>
        </p:spPr>
        <p:txBody>
          <a:bodyPr wrap="square" rtlCol="0" anchor="ctr"/>
          <a:lstStyle/>
          <a:p>
            <a:pPr marL="0" indent="0">
              <a:buNone/>
            </a:pPr>
            <a:r>
              <a:rPr lang="en-US" sz="1150" b="1" dirty="0">
                <a:solidFill>
                  <a:srgbClr val="004370"/>
                </a:solidFill>
                <a:latin typeface="Calibri" pitchFamily="34" charset="0"/>
                <a:ea typeface="Calibri" pitchFamily="34" charset="-122"/>
                <a:cs typeface="Calibri" pitchFamily="34" charset="-120"/>
              </a:rPr>
              <a:t>Terms</a:t>
            </a:r>
            <a:endParaRPr lang="en-US" sz="1150" dirty="0"/>
          </a:p>
        </p:txBody>
      </p:sp>
      <p:sp>
        <p:nvSpPr>
          <p:cNvPr id="56" name="Text 8">
            <a:extLst>
              <a:ext uri="{FF2B5EF4-FFF2-40B4-BE49-F238E27FC236}">
                <a16:creationId xmlns:a16="http://schemas.microsoft.com/office/drawing/2014/main" id="{46FA2F76-3D37-1A6F-CDF7-722CE9C43042}"/>
              </a:ext>
            </a:extLst>
          </p:cNvPr>
          <p:cNvSpPr/>
          <p:nvPr/>
        </p:nvSpPr>
        <p:spPr>
          <a:xfrm>
            <a:off x="3050896" y="2506974"/>
            <a:ext cx="3566160" cy="274320"/>
          </a:xfrm>
          <a:prstGeom prst="rect">
            <a:avLst/>
          </a:prstGeom>
          <a:noFill/>
          <a:ln/>
        </p:spPr>
        <p:txBody>
          <a:bodyPr wrap="square" rtlCol="0" anchor="ctr"/>
          <a:lstStyle/>
          <a:p>
            <a:pPr marL="0" indent="0">
              <a:buNone/>
            </a:pPr>
            <a:r>
              <a:rPr lang="en-US" sz="1150" b="1" dirty="0">
                <a:solidFill>
                  <a:srgbClr val="004370"/>
                </a:solidFill>
                <a:latin typeface="Calibri" pitchFamily="34" charset="0"/>
                <a:ea typeface="Calibri" pitchFamily="34" charset="-122"/>
                <a:cs typeface="Calibri" pitchFamily="34" charset="-120"/>
              </a:rPr>
              <a:t>Example</a:t>
            </a:r>
            <a:endParaRPr lang="en-US" sz="1150" dirty="0"/>
          </a:p>
        </p:txBody>
      </p:sp>
      <p:sp>
        <p:nvSpPr>
          <p:cNvPr id="58" name="Text 9">
            <a:extLst>
              <a:ext uri="{FF2B5EF4-FFF2-40B4-BE49-F238E27FC236}">
                <a16:creationId xmlns:a16="http://schemas.microsoft.com/office/drawing/2014/main" id="{D56BEB4D-0E2B-06E4-287B-34F382EE31E2}"/>
              </a:ext>
            </a:extLst>
          </p:cNvPr>
          <p:cNvSpPr/>
          <p:nvPr/>
        </p:nvSpPr>
        <p:spPr>
          <a:xfrm>
            <a:off x="6662776" y="2506974"/>
            <a:ext cx="4754880" cy="274320"/>
          </a:xfrm>
          <a:prstGeom prst="rect">
            <a:avLst/>
          </a:prstGeom>
          <a:noFill/>
          <a:ln/>
        </p:spPr>
        <p:txBody>
          <a:bodyPr wrap="square" rtlCol="0" anchor="ctr"/>
          <a:lstStyle/>
          <a:p>
            <a:pPr marL="0" indent="0">
              <a:buNone/>
            </a:pPr>
            <a:r>
              <a:rPr lang="en-US" sz="1150" b="1" dirty="0">
                <a:solidFill>
                  <a:srgbClr val="004370"/>
                </a:solidFill>
                <a:latin typeface="Calibri" pitchFamily="34" charset="0"/>
                <a:ea typeface="Calibri" pitchFamily="34" charset="-122"/>
                <a:cs typeface="Calibri" pitchFamily="34" charset="-120"/>
              </a:rPr>
              <a:t>Matching rule</a:t>
            </a:r>
            <a:endParaRPr lang="en-US" sz="1150" dirty="0"/>
          </a:p>
        </p:txBody>
      </p:sp>
      <p:sp>
        <p:nvSpPr>
          <p:cNvPr id="60" name="Shape 10">
            <a:extLst>
              <a:ext uri="{FF2B5EF4-FFF2-40B4-BE49-F238E27FC236}">
                <a16:creationId xmlns:a16="http://schemas.microsoft.com/office/drawing/2014/main" id="{CBE86125-2BEB-CA35-4E9C-A9D426458B7C}"/>
              </a:ext>
            </a:extLst>
          </p:cNvPr>
          <p:cNvSpPr/>
          <p:nvPr/>
        </p:nvSpPr>
        <p:spPr>
          <a:xfrm>
            <a:off x="719176" y="2799582"/>
            <a:ext cx="10698480" cy="0"/>
          </a:xfrm>
          <a:prstGeom prst="line">
            <a:avLst/>
          </a:prstGeom>
          <a:noFill/>
          <a:ln w="12700">
            <a:solidFill>
              <a:srgbClr val="C7D2DD"/>
            </a:solidFill>
            <a:prstDash val="solid"/>
          </a:ln>
        </p:spPr>
        <p:txBody>
          <a:bodyPr/>
          <a:lstStyle/>
          <a:p>
            <a:endParaRPr lang="en-US"/>
          </a:p>
        </p:txBody>
      </p:sp>
      <p:sp>
        <p:nvSpPr>
          <p:cNvPr id="62" name="Shape 11">
            <a:extLst>
              <a:ext uri="{FF2B5EF4-FFF2-40B4-BE49-F238E27FC236}">
                <a16:creationId xmlns:a16="http://schemas.microsoft.com/office/drawing/2014/main" id="{08714FD7-D645-186D-DF7F-F23F841350F3}"/>
              </a:ext>
            </a:extLst>
          </p:cNvPr>
          <p:cNvSpPr/>
          <p:nvPr/>
        </p:nvSpPr>
        <p:spPr>
          <a:xfrm>
            <a:off x="719176" y="2973318"/>
            <a:ext cx="91440" cy="548640"/>
          </a:xfrm>
          <a:prstGeom prst="rect">
            <a:avLst/>
          </a:prstGeom>
          <a:solidFill>
            <a:srgbClr val="169AF3"/>
          </a:solidFill>
          <a:ln/>
        </p:spPr>
        <p:txBody>
          <a:bodyPr/>
          <a:lstStyle/>
          <a:p>
            <a:endParaRPr lang="en-US"/>
          </a:p>
        </p:txBody>
      </p:sp>
      <p:sp>
        <p:nvSpPr>
          <p:cNvPr id="64" name="Text 12">
            <a:extLst>
              <a:ext uri="{FF2B5EF4-FFF2-40B4-BE49-F238E27FC236}">
                <a16:creationId xmlns:a16="http://schemas.microsoft.com/office/drawing/2014/main" id="{59FB4A28-C392-9CE3-776B-5365C4D20665}"/>
              </a:ext>
            </a:extLst>
          </p:cNvPr>
          <p:cNvSpPr/>
          <p:nvPr/>
        </p:nvSpPr>
        <p:spPr>
          <a:xfrm>
            <a:off x="856336" y="2927598"/>
            <a:ext cx="1188720" cy="658368"/>
          </a:xfrm>
          <a:prstGeom prst="rect">
            <a:avLst/>
          </a:prstGeom>
          <a:noFill/>
          <a:ln/>
        </p:spPr>
        <p:txBody>
          <a:bodyPr wrap="square" rtlCol="0" anchor="ctr"/>
          <a:lstStyle/>
          <a:p>
            <a:pPr marL="0" indent="0">
              <a:buNone/>
            </a:pPr>
            <a:r>
              <a:rPr lang="en-US" sz="1300" b="1" dirty="0">
                <a:solidFill>
                  <a:srgbClr val="004370"/>
                </a:solidFill>
                <a:latin typeface="Calibri" pitchFamily="34" charset="0"/>
                <a:ea typeface="Calibri" pitchFamily="34" charset="-122"/>
                <a:cs typeface="Calibri" pitchFamily="34" charset="-120"/>
              </a:rPr>
              <a:t>A</a:t>
            </a:r>
            <a:endParaRPr lang="en-US" sz="1300" dirty="0"/>
          </a:p>
        </p:txBody>
      </p:sp>
      <p:sp>
        <p:nvSpPr>
          <p:cNvPr id="66" name="Text 13">
            <a:extLst>
              <a:ext uri="{FF2B5EF4-FFF2-40B4-BE49-F238E27FC236}">
                <a16:creationId xmlns:a16="http://schemas.microsoft.com/office/drawing/2014/main" id="{DF083F07-FB8B-697B-1EFC-E130847E749E}"/>
              </a:ext>
            </a:extLst>
          </p:cNvPr>
          <p:cNvSpPr/>
          <p:nvPr/>
        </p:nvSpPr>
        <p:spPr>
          <a:xfrm>
            <a:off x="2090776" y="2927598"/>
            <a:ext cx="914400" cy="658368"/>
          </a:xfrm>
          <a:prstGeom prst="rect">
            <a:avLst/>
          </a:prstGeom>
          <a:noFill/>
          <a:ln/>
        </p:spPr>
        <p:txBody>
          <a:bodyPr wrap="square" rtlCol="0" anchor="ctr"/>
          <a:lstStyle/>
          <a:p>
            <a:pPr marL="0" indent="0">
              <a:buNone/>
            </a:pPr>
            <a:r>
              <a:rPr lang="en-US" sz="1200" dirty="0">
                <a:solidFill>
                  <a:srgbClr val="222222"/>
                </a:solidFill>
                <a:latin typeface="Calibri" pitchFamily="34" charset="0"/>
                <a:ea typeface="Calibri" pitchFamily="34" charset="-122"/>
                <a:cs typeface="Calibri" pitchFamily="34" charset="-120"/>
              </a:rPr>
              <a:t>38</a:t>
            </a:r>
            <a:endParaRPr lang="en-US" sz="1200" dirty="0"/>
          </a:p>
        </p:txBody>
      </p:sp>
      <p:sp>
        <p:nvSpPr>
          <p:cNvPr id="68" name="Text 14">
            <a:extLst>
              <a:ext uri="{FF2B5EF4-FFF2-40B4-BE49-F238E27FC236}">
                <a16:creationId xmlns:a16="http://schemas.microsoft.com/office/drawing/2014/main" id="{A8A5F559-BB0D-24EB-2E6C-6ECB1209AFE5}"/>
              </a:ext>
            </a:extLst>
          </p:cNvPr>
          <p:cNvSpPr/>
          <p:nvPr/>
        </p:nvSpPr>
        <p:spPr>
          <a:xfrm>
            <a:off x="3050896" y="2927598"/>
            <a:ext cx="3566160" cy="658368"/>
          </a:xfrm>
          <a:prstGeom prst="rect">
            <a:avLst/>
          </a:prstGeom>
          <a:noFill/>
          <a:ln/>
        </p:spPr>
        <p:txBody>
          <a:bodyPr wrap="square" rtlCol="0" anchor="ctr"/>
          <a:lstStyle/>
          <a:p>
            <a:pPr marL="0" indent="0">
              <a:buNone/>
            </a:pPr>
            <a:r>
              <a:rPr lang="en-US" sz="1150" i="1" dirty="0">
                <a:solidFill>
                  <a:srgbClr val="5B6472"/>
                </a:solidFill>
                <a:latin typeface="Calibri" pitchFamily="34" charset="0"/>
                <a:ea typeface="Calibri" pitchFamily="34" charset="-122"/>
                <a:cs typeface="Calibri" pitchFamily="34" charset="-120"/>
              </a:rPr>
              <a:t>"Uganda National Panel Survey", "LSMS-ISA"</a:t>
            </a:r>
            <a:endParaRPr lang="en-US" sz="1150" dirty="0"/>
          </a:p>
        </p:txBody>
      </p:sp>
      <p:sp>
        <p:nvSpPr>
          <p:cNvPr id="70" name="Text 15">
            <a:extLst>
              <a:ext uri="{FF2B5EF4-FFF2-40B4-BE49-F238E27FC236}">
                <a16:creationId xmlns:a16="http://schemas.microsoft.com/office/drawing/2014/main" id="{4C84B706-7070-F301-FF92-32D1D0144EC1}"/>
              </a:ext>
            </a:extLst>
          </p:cNvPr>
          <p:cNvSpPr/>
          <p:nvPr/>
        </p:nvSpPr>
        <p:spPr>
          <a:xfrm>
            <a:off x="6662776" y="2927598"/>
            <a:ext cx="4754880" cy="658368"/>
          </a:xfrm>
          <a:prstGeom prst="rect">
            <a:avLst/>
          </a:prstGeom>
          <a:noFill/>
          <a:ln/>
        </p:spPr>
        <p:txBody>
          <a:bodyPr wrap="square" rtlCol="0" anchor="ctr"/>
          <a:lstStyle/>
          <a:p>
            <a:pPr marL="0" indent="0">
              <a:buNone/>
            </a:pPr>
            <a:r>
              <a:rPr lang="en-US" sz="1200" dirty="0">
                <a:solidFill>
                  <a:srgbClr val="222222"/>
                </a:solidFill>
                <a:latin typeface="Calibri" pitchFamily="34" charset="0"/>
                <a:ea typeface="Calibri" pitchFamily="34" charset="-122"/>
                <a:cs typeface="Calibri" pitchFamily="34" charset="-120"/>
              </a:rPr>
              <a:t>Full-text match accepted without additional context.</a:t>
            </a:r>
            <a:endParaRPr lang="en-US" sz="1200" dirty="0"/>
          </a:p>
        </p:txBody>
      </p:sp>
      <p:sp>
        <p:nvSpPr>
          <p:cNvPr id="72" name="Shape 16">
            <a:extLst>
              <a:ext uri="{FF2B5EF4-FFF2-40B4-BE49-F238E27FC236}">
                <a16:creationId xmlns:a16="http://schemas.microsoft.com/office/drawing/2014/main" id="{59B2A579-C778-52F2-4EAB-73383D042E2B}"/>
              </a:ext>
            </a:extLst>
          </p:cNvPr>
          <p:cNvSpPr/>
          <p:nvPr/>
        </p:nvSpPr>
        <p:spPr>
          <a:xfrm>
            <a:off x="719176" y="3723126"/>
            <a:ext cx="91440" cy="548640"/>
          </a:xfrm>
          <a:prstGeom prst="rect">
            <a:avLst/>
          </a:prstGeom>
          <a:solidFill>
            <a:srgbClr val="C98A1F"/>
          </a:solidFill>
          <a:ln/>
        </p:spPr>
        <p:txBody>
          <a:bodyPr/>
          <a:lstStyle/>
          <a:p>
            <a:endParaRPr lang="en-US"/>
          </a:p>
        </p:txBody>
      </p:sp>
      <p:sp>
        <p:nvSpPr>
          <p:cNvPr id="74" name="Text 17">
            <a:extLst>
              <a:ext uri="{FF2B5EF4-FFF2-40B4-BE49-F238E27FC236}">
                <a16:creationId xmlns:a16="http://schemas.microsoft.com/office/drawing/2014/main" id="{22B7FBE3-9978-A2F5-C585-516FFB730035}"/>
              </a:ext>
            </a:extLst>
          </p:cNvPr>
          <p:cNvSpPr/>
          <p:nvPr/>
        </p:nvSpPr>
        <p:spPr>
          <a:xfrm>
            <a:off x="856336" y="3677406"/>
            <a:ext cx="1188720" cy="658368"/>
          </a:xfrm>
          <a:prstGeom prst="rect">
            <a:avLst/>
          </a:prstGeom>
          <a:noFill/>
          <a:ln/>
        </p:spPr>
        <p:txBody>
          <a:bodyPr wrap="square" rtlCol="0" anchor="ctr"/>
          <a:lstStyle/>
          <a:p>
            <a:pPr marL="0" indent="0">
              <a:buNone/>
            </a:pPr>
            <a:r>
              <a:rPr lang="en-US" sz="1300" b="1" dirty="0">
                <a:solidFill>
                  <a:srgbClr val="004370"/>
                </a:solidFill>
                <a:latin typeface="Calibri" pitchFamily="34" charset="0"/>
                <a:ea typeface="Calibri" pitchFamily="34" charset="-122"/>
                <a:cs typeface="Calibri" pitchFamily="34" charset="-120"/>
              </a:rPr>
              <a:t>B</a:t>
            </a:r>
            <a:endParaRPr lang="en-US" sz="1300" dirty="0"/>
          </a:p>
        </p:txBody>
      </p:sp>
      <p:sp>
        <p:nvSpPr>
          <p:cNvPr id="76" name="Text 18">
            <a:extLst>
              <a:ext uri="{FF2B5EF4-FFF2-40B4-BE49-F238E27FC236}">
                <a16:creationId xmlns:a16="http://schemas.microsoft.com/office/drawing/2014/main" id="{22E22355-4599-2EC5-DED8-550299DC7843}"/>
              </a:ext>
            </a:extLst>
          </p:cNvPr>
          <p:cNvSpPr/>
          <p:nvPr/>
        </p:nvSpPr>
        <p:spPr>
          <a:xfrm>
            <a:off x="2090776" y="3677406"/>
            <a:ext cx="914400" cy="658368"/>
          </a:xfrm>
          <a:prstGeom prst="rect">
            <a:avLst/>
          </a:prstGeom>
          <a:noFill/>
          <a:ln/>
        </p:spPr>
        <p:txBody>
          <a:bodyPr wrap="square" rtlCol="0" anchor="ctr"/>
          <a:lstStyle/>
          <a:p>
            <a:pPr marL="0" indent="0">
              <a:buNone/>
            </a:pPr>
            <a:r>
              <a:rPr lang="en-US" sz="1200" dirty="0">
                <a:solidFill>
                  <a:srgbClr val="222222"/>
                </a:solidFill>
                <a:latin typeface="Calibri" pitchFamily="34" charset="0"/>
                <a:ea typeface="Calibri" pitchFamily="34" charset="-122"/>
                <a:cs typeface="Calibri" pitchFamily="34" charset="-120"/>
              </a:rPr>
              <a:t>28</a:t>
            </a:r>
            <a:endParaRPr lang="en-US" sz="1200" dirty="0"/>
          </a:p>
        </p:txBody>
      </p:sp>
      <p:sp>
        <p:nvSpPr>
          <p:cNvPr id="78" name="Text 19">
            <a:extLst>
              <a:ext uri="{FF2B5EF4-FFF2-40B4-BE49-F238E27FC236}">
                <a16:creationId xmlns:a16="http://schemas.microsoft.com/office/drawing/2014/main" id="{4E9D2F34-8905-08F2-57AC-88825B39096A}"/>
              </a:ext>
            </a:extLst>
          </p:cNvPr>
          <p:cNvSpPr/>
          <p:nvPr/>
        </p:nvSpPr>
        <p:spPr>
          <a:xfrm>
            <a:off x="3050896" y="3677406"/>
            <a:ext cx="3566160" cy="658368"/>
          </a:xfrm>
          <a:prstGeom prst="rect">
            <a:avLst/>
          </a:prstGeom>
          <a:noFill/>
          <a:ln/>
        </p:spPr>
        <p:txBody>
          <a:bodyPr wrap="square" rtlCol="0" anchor="ctr"/>
          <a:lstStyle/>
          <a:p>
            <a:pPr marL="0" indent="0">
              <a:buNone/>
            </a:pPr>
            <a:r>
              <a:rPr lang="en-US" sz="1150" i="1" dirty="0">
                <a:solidFill>
                  <a:srgbClr val="5B6472"/>
                </a:solidFill>
                <a:latin typeface="Calibri" pitchFamily="34" charset="0"/>
                <a:ea typeface="Calibri" pitchFamily="34" charset="-122"/>
                <a:cs typeface="Calibri" pitchFamily="34" charset="-120"/>
              </a:rPr>
              <a:t>"National Panel Survey", "Living Standards Survey"</a:t>
            </a:r>
            <a:endParaRPr lang="en-US" sz="1150" dirty="0"/>
          </a:p>
        </p:txBody>
      </p:sp>
      <p:sp>
        <p:nvSpPr>
          <p:cNvPr id="80" name="Text 20">
            <a:extLst>
              <a:ext uri="{FF2B5EF4-FFF2-40B4-BE49-F238E27FC236}">
                <a16:creationId xmlns:a16="http://schemas.microsoft.com/office/drawing/2014/main" id="{94E0551A-ABDE-0209-1AC0-0E855B375A01}"/>
              </a:ext>
            </a:extLst>
          </p:cNvPr>
          <p:cNvSpPr/>
          <p:nvPr/>
        </p:nvSpPr>
        <p:spPr>
          <a:xfrm>
            <a:off x="6662776" y="3677406"/>
            <a:ext cx="4754880" cy="658368"/>
          </a:xfrm>
          <a:prstGeom prst="rect">
            <a:avLst/>
          </a:prstGeom>
          <a:noFill/>
          <a:ln/>
        </p:spPr>
        <p:txBody>
          <a:bodyPr wrap="square" rtlCol="0" anchor="ctr"/>
          <a:lstStyle/>
          <a:p>
            <a:pPr marL="0" indent="0">
              <a:buNone/>
            </a:pPr>
            <a:r>
              <a:rPr lang="en-US" sz="1200" dirty="0">
                <a:solidFill>
                  <a:srgbClr val="222222"/>
                </a:solidFill>
                <a:latin typeface="Calibri" pitchFamily="34" charset="0"/>
                <a:ea typeface="Calibri" pitchFamily="34" charset="-122"/>
                <a:cs typeface="Calibri" pitchFamily="34" charset="-120"/>
              </a:rPr>
              <a:t>Requires an LSMS country term and an allowed subject field.</a:t>
            </a:r>
            <a:endParaRPr lang="en-US" sz="1200" dirty="0"/>
          </a:p>
        </p:txBody>
      </p:sp>
      <p:sp>
        <p:nvSpPr>
          <p:cNvPr id="82" name="Shape 21">
            <a:extLst>
              <a:ext uri="{FF2B5EF4-FFF2-40B4-BE49-F238E27FC236}">
                <a16:creationId xmlns:a16="http://schemas.microsoft.com/office/drawing/2014/main" id="{BFD572F6-A401-59BE-00DF-C7451ACA9A5D}"/>
              </a:ext>
            </a:extLst>
          </p:cNvPr>
          <p:cNvSpPr/>
          <p:nvPr/>
        </p:nvSpPr>
        <p:spPr>
          <a:xfrm>
            <a:off x="719176" y="4472934"/>
            <a:ext cx="91440" cy="548640"/>
          </a:xfrm>
          <a:prstGeom prst="rect">
            <a:avLst/>
          </a:prstGeom>
          <a:solidFill>
            <a:srgbClr val="6B3FA0"/>
          </a:solidFill>
          <a:ln/>
        </p:spPr>
        <p:txBody>
          <a:bodyPr/>
          <a:lstStyle/>
          <a:p>
            <a:endParaRPr lang="en-US"/>
          </a:p>
        </p:txBody>
      </p:sp>
      <p:sp>
        <p:nvSpPr>
          <p:cNvPr id="84" name="Text 22">
            <a:extLst>
              <a:ext uri="{FF2B5EF4-FFF2-40B4-BE49-F238E27FC236}">
                <a16:creationId xmlns:a16="http://schemas.microsoft.com/office/drawing/2014/main" id="{94A9F4C2-78F1-2892-10E2-BF6D0BD80EDB}"/>
              </a:ext>
            </a:extLst>
          </p:cNvPr>
          <p:cNvSpPr/>
          <p:nvPr/>
        </p:nvSpPr>
        <p:spPr>
          <a:xfrm>
            <a:off x="856336" y="4427214"/>
            <a:ext cx="1188720" cy="658368"/>
          </a:xfrm>
          <a:prstGeom prst="rect">
            <a:avLst/>
          </a:prstGeom>
          <a:noFill/>
          <a:ln/>
        </p:spPr>
        <p:txBody>
          <a:bodyPr wrap="square" rtlCol="0" anchor="ctr"/>
          <a:lstStyle/>
          <a:p>
            <a:pPr marL="0" indent="0">
              <a:buNone/>
            </a:pPr>
            <a:r>
              <a:rPr lang="en-US" sz="1300" b="1" dirty="0">
                <a:solidFill>
                  <a:srgbClr val="004370"/>
                </a:solidFill>
                <a:latin typeface="Calibri" pitchFamily="34" charset="0"/>
                <a:ea typeface="Calibri" pitchFamily="34" charset="-122"/>
                <a:cs typeface="Calibri" pitchFamily="34" charset="-120"/>
              </a:rPr>
              <a:t>C</a:t>
            </a:r>
            <a:endParaRPr lang="en-US" sz="1300" dirty="0"/>
          </a:p>
        </p:txBody>
      </p:sp>
      <p:sp>
        <p:nvSpPr>
          <p:cNvPr id="86" name="Text 23">
            <a:extLst>
              <a:ext uri="{FF2B5EF4-FFF2-40B4-BE49-F238E27FC236}">
                <a16:creationId xmlns:a16="http://schemas.microsoft.com/office/drawing/2014/main" id="{995BFC6A-FB45-1359-FD82-5952CA8494E3}"/>
              </a:ext>
            </a:extLst>
          </p:cNvPr>
          <p:cNvSpPr/>
          <p:nvPr/>
        </p:nvSpPr>
        <p:spPr>
          <a:xfrm>
            <a:off x="2090776" y="4427214"/>
            <a:ext cx="914400" cy="658368"/>
          </a:xfrm>
          <a:prstGeom prst="rect">
            <a:avLst/>
          </a:prstGeom>
          <a:noFill/>
          <a:ln/>
        </p:spPr>
        <p:txBody>
          <a:bodyPr wrap="square" rtlCol="0" anchor="ctr"/>
          <a:lstStyle/>
          <a:p>
            <a:pPr marL="0" indent="0">
              <a:buNone/>
            </a:pPr>
            <a:r>
              <a:rPr lang="en-US" sz="1200" dirty="0">
                <a:solidFill>
                  <a:srgbClr val="222222"/>
                </a:solidFill>
                <a:latin typeface="Calibri" pitchFamily="34" charset="0"/>
                <a:ea typeface="Calibri" pitchFamily="34" charset="-122"/>
                <a:cs typeface="Calibri" pitchFamily="34" charset="-120"/>
              </a:rPr>
              <a:t>43</a:t>
            </a:r>
            <a:endParaRPr lang="en-US" sz="1200" dirty="0"/>
          </a:p>
        </p:txBody>
      </p:sp>
      <p:sp>
        <p:nvSpPr>
          <p:cNvPr id="88" name="Text 24">
            <a:extLst>
              <a:ext uri="{FF2B5EF4-FFF2-40B4-BE49-F238E27FC236}">
                <a16:creationId xmlns:a16="http://schemas.microsoft.com/office/drawing/2014/main" id="{1BAF3BD9-A44E-8C0D-5B2B-42833975B771}"/>
              </a:ext>
            </a:extLst>
          </p:cNvPr>
          <p:cNvSpPr/>
          <p:nvPr/>
        </p:nvSpPr>
        <p:spPr>
          <a:xfrm>
            <a:off x="3050896" y="4427214"/>
            <a:ext cx="3566160" cy="658368"/>
          </a:xfrm>
          <a:prstGeom prst="rect">
            <a:avLst/>
          </a:prstGeom>
          <a:noFill/>
          <a:ln/>
        </p:spPr>
        <p:txBody>
          <a:bodyPr wrap="square" rtlCol="0" anchor="ctr"/>
          <a:lstStyle/>
          <a:p>
            <a:pPr marL="0" indent="0">
              <a:buNone/>
            </a:pPr>
            <a:r>
              <a:rPr lang="en-US" sz="1150" i="1" dirty="0">
                <a:solidFill>
                  <a:srgbClr val="5B6472"/>
                </a:solidFill>
                <a:latin typeface="Calibri" pitchFamily="34" charset="0"/>
                <a:ea typeface="Calibri" pitchFamily="34" charset="-122"/>
                <a:cs typeface="Calibri" pitchFamily="34" charset="-120"/>
              </a:rPr>
              <a:t>"IHPS", "LSMS", "UNPS", "ESS4"</a:t>
            </a:r>
            <a:endParaRPr lang="en-US" sz="1150" dirty="0"/>
          </a:p>
        </p:txBody>
      </p:sp>
      <p:sp>
        <p:nvSpPr>
          <p:cNvPr id="90" name="Text 25">
            <a:extLst>
              <a:ext uri="{FF2B5EF4-FFF2-40B4-BE49-F238E27FC236}">
                <a16:creationId xmlns:a16="http://schemas.microsoft.com/office/drawing/2014/main" id="{515E2903-4095-81F7-4F83-CDA7E8EF8A96}"/>
              </a:ext>
            </a:extLst>
          </p:cNvPr>
          <p:cNvSpPr/>
          <p:nvPr/>
        </p:nvSpPr>
        <p:spPr>
          <a:xfrm>
            <a:off x="6662776" y="4427214"/>
            <a:ext cx="4754880" cy="658368"/>
          </a:xfrm>
          <a:prstGeom prst="rect">
            <a:avLst/>
          </a:prstGeom>
          <a:noFill/>
          <a:ln/>
        </p:spPr>
        <p:txBody>
          <a:bodyPr wrap="square" rtlCol="0" anchor="ctr"/>
          <a:lstStyle/>
          <a:p>
            <a:pPr marL="0" indent="0">
              <a:buNone/>
            </a:pPr>
            <a:r>
              <a:rPr lang="en-US" sz="1200" dirty="0">
                <a:solidFill>
                  <a:srgbClr val="222222"/>
                </a:solidFill>
                <a:latin typeface="Calibri" pitchFamily="34" charset="0"/>
                <a:ea typeface="Calibri" pitchFamily="34" charset="-122"/>
                <a:cs typeface="Calibri" pitchFamily="34" charset="-120"/>
              </a:rPr>
              <a:t>Same gating as Tier B, plus a case-sensitivity check for acronym collisions.</a:t>
            </a:r>
            <a:endParaRPr lang="en-US" sz="1200" dirty="0"/>
          </a:p>
        </p:txBody>
      </p:sp>
      <p:pic>
        <p:nvPicPr>
          <p:cNvPr id="96" name="Picture 95">
            <a:extLst>
              <a:ext uri="{FF2B5EF4-FFF2-40B4-BE49-F238E27FC236}">
                <a16:creationId xmlns:a16="http://schemas.microsoft.com/office/drawing/2014/main" id="{1D8A00B1-59C4-B42B-CE5F-3F72C73C4DED}"/>
              </a:ext>
            </a:extLst>
          </p:cNvPr>
          <p:cNvPicPr>
            <a:picLocks noChangeAspect="1"/>
          </p:cNvPicPr>
          <p:nvPr/>
        </p:nvPicPr>
        <p:blipFill>
          <a:blip r:embed="rId4"/>
          <a:srcRect r="34740"/>
          <a:stretch>
            <a:fillRect/>
          </a:stretch>
        </p:blipFill>
        <p:spPr>
          <a:xfrm>
            <a:off x="705797" y="5192841"/>
            <a:ext cx="5745632" cy="939119"/>
          </a:xfrm>
          <a:prstGeom prst="rect">
            <a:avLst/>
          </a:prstGeom>
        </p:spPr>
      </p:pic>
    </p:spTree>
    <p:extLst>
      <p:ext uri="{BB962C8B-B14F-4D97-AF65-F5344CB8AC3E}">
        <p14:creationId xmlns:p14="http://schemas.microsoft.com/office/powerpoint/2010/main" val="6168167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0E3FA6-C9E2-EB53-F205-5D98FA801ED4}"/>
            </a:ext>
          </a:extLst>
        </p:cNvPr>
        <p:cNvGrpSpPr/>
        <p:nvPr/>
      </p:nvGrpSpPr>
      <p:grpSpPr>
        <a:xfrm>
          <a:off x="0" y="0"/>
          <a:ext cx="0" cy="0"/>
          <a:chOff x="0" y="0"/>
          <a:chExt cx="0" cy="0"/>
        </a:xfrm>
      </p:grpSpPr>
      <p:pic>
        <p:nvPicPr>
          <p:cNvPr id="2" name="Image 0" descr="/home/claude/pptx_project/lsms_brand/content_bg.png">
            <a:extLst>
              <a:ext uri="{FF2B5EF4-FFF2-40B4-BE49-F238E27FC236}">
                <a16:creationId xmlns:a16="http://schemas.microsoft.com/office/drawing/2014/main" id="{F9F5DE01-3EC0-5A69-6C84-8ECCBF0A8CBF}"/>
              </a:ext>
            </a:extLst>
          </p:cNvPr>
          <p:cNvPicPr>
            <a:picLocks noChangeAspect="1"/>
          </p:cNvPicPr>
          <p:nvPr/>
        </p:nvPicPr>
        <p:blipFill>
          <a:blip r:embed="rId3"/>
          <a:stretch>
            <a:fillRect/>
          </a:stretch>
        </p:blipFill>
        <p:spPr>
          <a:xfrm>
            <a:off x="0" y="0"/>
            <a:ext cx="12191695" cy="6858000"/>
          </a:xfrm>
          <a:prstGeom prst="rect">
            <a:avLst/>
          </a:prstGeom>
        </p:spPr>
      </p:pic>
      <p:sp>
        <p:nvSpPr>
          <p:cNvPr id="3" name="Text 0">
            <a:extLst>
              <a:ext uri="{FF2B5EF4-FFF2-40B4-BE49-F238E27FC236}">
                <a16:creationId xmlns:a16="http://schemas.microsoft.com/office/drawing/2014/main" id="{7F7041F7-6C0E-67A3-BDD4-C7F409370312}"/>
              </a:ext>
            </a:extLst>
          </p:cNvPr>
          <p:cNvSpPr/>
          <p:nvPr/>
        </p:nvSpPr>
        <p:spPr>
          <a:xfrm>
            <a:off x="594360" y="146304"/>
            <a:ext cx="10698480" cy="658368"/>
          </a:xfrm>
          <a:prstGeom prst="rect">
            <a:avLst/>
          </a:prstGeom>
          <a:noFill/>
          <a:ln/>
        </p:spPr>
        <p:txBody>
          <a:bodyPr wrap="square" rtlCol="0" anchor="ctr"/>
          <a:lstStyle/>
          <a:p>
            <a:r>
              <a:rPr lang="en-US" sz="3000" b="1" dirty="0">
                <a:solidFill>
                  <a:srgbClr val="FFFFFF"/>
                </a:solidFill>
                <a:latin typeface="Calibri" pitchFamily="34" charset="0"/>
                <a:ea typeface="Calibri" pitchFamily="34" charset="-122"/>
                <a:cs typeface="Calibri" pitchFamily="34" charset="-120"/>
              </a:rPr>
              <a:t>Relevance Scoring: Identity and Use Signals (Gate 2)</a:t>
            </a:r>
            <a:endParaRPr lang="en-US" sz="3000" dirty="0"/>
          </a:p>
        </p:txBody>
      </p:sp>
      <p:sp>
        <p:nvSpPr>
          <p:cNvPr id="26" name="Shape 2">
            <a:extLst>
              <a:ext uri="{FF2B5EF4-FFF2-40B4-BE49-F238E27FC236}">
                <a16:creationId xmlns:a16="http://schemas.microsoft.com/office/drawing/2014/main" id="{7E9BA270-C82B-94BB-5613-14C80EDA1A01}"/>
              </a:ext>
            </a:extLst>
          </p:cNvPr>
          <p:cNvSpPr/>
          <p:nvPr/>
        </p:nvSpPr>
        <p:spPr>
          <a:xfrm>
            <a:off x="502920" y="1097280"/>
            <a:ext cx="5468112" cy="3939540"/>
          </a:xfrm>
          <a:prstGeom prst="roundRect">
            <a:avLst>
              <a:gd name="adj" fmla="val 1176"/>
            </a:avLst>
          </a:prstGeom>
          <a:solidFill>
            <a:srgbClr val="FFFFFF"/>
          </a:solidFill>
          <a:ln w="9525">
            <a:solidFill>
              <a:srgbClr val="C7D2DD"/>
            </a:solidFill>
            <a:prstDash val="solid"/>
          </a:ln>
          <a:effectLst>
            <a:outerShdw blurRad="127000" dist="38100" dir="5400000" algn="bl" rotWithShape="0">
              <a:srgbClr val="000000">
                <a:alpha val="12000"/>
              </a:srgbClr>
            </a:outerShdw>
          </a:effectLst>
        </p:spPr>
        <p:txBody>
          <a:bodyPr/>
          <a:lstStyle/>
          <a:p>
            <a:endParaRPr lang="en-US"/>
          </a:p>
        </p:txBody>
      </p:sp>
      <p:sp>
        <p:nvSpPr>
          <p:cNvPr id="28" name="Shape 3">
            <a:extLst>
              <a:ext uri="{FF2B5EF4-FFF2-40B4-BE49-F238E27FC236}">
                <a16:creationId xmlns:a16="http://schemas.microsoft.com/office/drawing/2014/main" id="{E69F0630-8E1A-C5C9-F1BE-01B56C0ED991}"/>
              </a:ext>
            </a:extLst>
          </p:cNvPr>
          <p:cNvSpPr/>
          <p:nvPr/>
        </p:nvSpPr>
        <p:spPr>
          <a:xfrm>
            <a:off x="731520" y="1353312"/>
            <a:ext cx="64008" cy="201168"/>
          </a:xfrm>
          <a:prstGeom prst="rect">
            <a:avLst/>
          </a:prstGeom>
          <a:solidFill>
            <a:srgbClr val="169AF3"/>
          </a:solidFill>
          <a:ln/>
        </p:spPr>
        <p:txBody>
          <a:bodyPr/>
          <a:lstStyle/>
          <a:p>
            <a:endParaRPr lang="en-US"/>
          </a:p>
        </p:txBody>
      </p:sp>
      <p:sp>
        <p:nvSpPr>
          <p:cNvPr id="30" name="Text 4">
            <a:extLst>
              <a:ext uri="{FF2B5EF4-FFF2-40B4-BE49-F238E27FC236}">
                <a16:creationId xmlns:a16="http://schemas.microsoft.com/office/drawing/2014/main" id="{55895437-D44E-7E1A-DB78-B9B6E00D0E5E}"/>
              </a:ext>
            </a:extLst>
          </p:cNvPr>
          <p:cNvSpPr/>
          <p:nvPr/>
        </p:nvSpPr>
        <p:spPr>
          <a:xfrm>
            <a:off x="896112" y="1325880"/>
            <a:ext cx="7315200" cy="274320"/>
          </a:xfrm>
          <a:prstGeom prst="rect">
            <a:avLst/>
          </a:prstGeom>
          <a:noFill/>
          <a:ln/>
        </p:spPr>
        <p:txBody>
          <a:bodyPr wrap="square" rtlCol="0" anchor="ctr"/>
          <a:lstStyle/>
          <a:p>
            <a:pPr marL="0" indent="0">
              <a:buNone/>
            </a:pPr>
            <a:r>
              <a:rPr lang="en-US" sz="1250" b="1" kern="0" spc="100" dirty="0">
                <a:solidFill>
                  <a:srgbClr val="004370"/>
                </a:solidFill>
                <a:latin typeface="Calibri" pitchFamily="34" charset="0"/>
                <a:ea typeface="Calibri" pitchFamily="34" charset="-122"/>
                <a:cs typeface="Calibri" pitchFamily="34" charset="-120"/>
              </a:rPr>
              <a:t>IDENTITY SCORE</a:t>
            </a:r>
            <a:endParaRPr lang="en-US" sz="1250" dirty="0"/>
          </a:p>
        </p:txBody>
      </p:sp>
      <p:sp>
        <p:nvSpPr>
          <p:cNvPr id="32" name="Text 5">
            <a:extLst>
              <a:ext uri="{FF2B5EF4-FFF2-40B4-BE49-F238E27FC236}">
                <a16:creationId xmlns:a16="http://schemas.microsoft.com/office/drawing/2014/main" id="{EE9EC039-FF1A-23A5-A4CF-74FFBB9B618D}"/>
              </a:ext>
            </a:extLst>
          </p:cNvPr>
          <p:cNvSpPr/>
          <p:nvPr/>
        </p:nvSpPr>
        <p:spPr>
          <a:xfrm>
            <a:off x="731519" y="1746504"/>
            <a:ext cx="5092231" cy="3657600"/>
          </a:xfrm>
          <a:prstGeom prst="rect">
            <a:avLst/>
          </a:prstGeom>
          <a:noFill/>
          <a:ln/>
        </p:spPr>
        <p:txBody>
          <a:bodyPr wrap="square" rtlCol="0" anchor="t"/>
          <a:lstStyle/>
          <a:p>
            <a:r>
              <a:rPr lang="en-US" dirty="0">
                <a:solidFill>
                  <a:srgbClr val="1A1A1A"/>
                </a:solidFill>
                <a:latin typeface="Calibri" pitchFamily="34" charset="0"/>
                <a:ea typeface="Calibri" pitchFamily="34" charset="-122"/>
                <a:cs typeface="Calibri" pitchFamily="34" charset="-120"/>
              </a:rPr>
              <a:t>Is this really one of our surveys, or still a name collision? </a:t>
            </a:r>
          </a:p>
          <a:p>
            <a:r>
              <a:rPr lang="en-US" dirty="0">
                <a:solidFill>
                  <a:srgbClr val="1A1A1A"/>
                </a:solidFill>
                <a:latin typeface="Calibri" pitchFamily="34" charset="0"/>
                <a:ea typeface="Calibri" pitchFamily="34" charset="-122"/>
                <a:cs typeface="Calibri" pitchFamily="34" charset="-120"/>
              </a:rPr>
              <a:t>Strong (2pts) examples:</a:t>
            </a:r>
          </a:p>
          <a:p>
            <a:pPr marL="285750" indent="-285750">
              <a:buFont typeface="Arial" panose="020B0604020202020204" pitchFamily="34" charset="0"/>
              <a:buChar char="•"/>
            </a:pPr>
            <a:r>
              <a:rPr lang="en-US" dirty="0">
                <a:solidFill>
                  <a:srgbClr val="1A1A1A"/>
                </a:solidFill>
                <a:latin typeface="Calibri" pitchFamily="34" charset="0"/>
                <a:ea typeface="Calibri" pitchFamily="34" charset="-122"/>
                <a:cs typeface="Calibri" pitchFamily="34" charset="-120"/>
              </a:rPr>
              <a:t>Matched terms from multiple survey families</a:t>
            </a:r>
          </a:p>
          <a:p>
            <a:pPr marL="285750" indent="-285750">
              <a:buFont typeface="Arial" panose="020B0604020202020204" pitchFamily="34" charset="0"/>
              <a:buChar char="•"/>
            </a:pPr>
            <a:r>
              <a:rPr lang="en-US" dirty="0">
                <a:solidFill>
                  <a:srgbClr val="1A1A1A"/>
                </a:solidFill>
                <a:latin typeface="Calibri" pitchFamily="34" charset="0"/>
                <a:ea typeface="Calibri" pitchFamily="34" charset="-122"/>
                <a:cs typeface="Calibri" pitchFamily="34" charset="-120"/>
              </a:rPr>
              <a:t>Matched two or more survey variants of one survey family</a:t>
            </a:r>
          </a:p>
          <a:p>
            <a:pPr marL="285750" indent="-285750">
              <a:buFont typeface="Arial" panose="020B0604020202020204" pitchFamily="34" charset="0"/>
              <a:buChar char="•"/>
            </a:pPr>
            <a:r>
              <a:rPr lang="en-US" dirty="0">
                <a:solidFill>
                  <a:srgbClr val="1A1A1A"/>
                </a:solidFill>
                <a:latin typeface="Calibri" pitchFamily="34" charset="0"/>
                <a:ea typeface="Calibri" pitchFamily="34" charset="-122"/>
                <a:cs typeface="Calibri" pitchFamily="34" charset="-120"/>
              </a:rPr>
              <a:t>World Bank affiliated author</a:t>
            </a:r>
          </a:p>
          <a:p>
            <a:r>
              <a:rPr lang="en-US" dirty="0">
                <a:solidFill>
                  <a:srgbClr val="1A1A1A"/>
                </a:solidFill>
                <a:latin typeface="Calibri" pitchFamily="34" charset="0"/>
                <a:ea typeface="Calibri" pitchFamily="34" charset="-122"/>
                <a:cs typeface="Calibri" pitchFamily="34" charset="-120"/>
              </a:rPr>
              <a:t>Weak (1 pt) examples:</a:t>
            </a:r>
          </a:p>
          <a:p>
            <a:pPr marL="285750" indent="-285750">
              <a:buFont typeface="Arial" panose="020B0604020202020204" pitchFamily="34" charset="0"/>
              <a:buChar char="•"/>
            </a:pPr>
            <a:r>
              <a:rPr lang="en-US" dirty="0">
                <a:solidFill>
                  <a:srgbClr val="1A1A1A"/>
                </a:solidFill>
                <a:latin typeface="Calibri" pitchFamily="34" charset="0"/>
                <a:ea typeface="Calibri" pitchFamily="34" charset="-122"/>
                <a:cs typeface="Calibri" pitchFamily="34" charset="-120"/>
              </a:rPr>
              <a:t>An LSMS country is named in the title or abstract</a:t>
            </a:r>
          </a:p>
          <a:p>
            <a:pPr marL="285750" indent="-285750">
              <a:buFont typeface="Arial" panose="020B0604020202020204" pitchFamily="34" charset="0"/>
              <a:buChar char="•"/>
            </a:pPr>
            <a:r>
              <a:rPr lang="en-US" dirty="0">
                <a:solidFill>
                  <a:srgbClr val="1A1A1A"/>
                </a:solidFill>
                <a:latin typeface="Calibri" pitchFamily="34" charset="0"/>
                <a:ea typeface="Calibri" pitchFamily="34" charset="-122"/>
                <a:cs typeface="Calibri" pitchFamily="34" charset="-120"/>
              </a:rPr>
              <a:t>An LSMS country is named around the keyword (full-text)</a:t>
            </a:r>
          </a:p>
        </p:txBody>
      </p:sp>
      <p:sp>
        <p:nvSpPr>
          <p:cNvPr id="34" name="Shape 6">
            <a:extLst>
              <a:ext uri="{FF2B5EF4-FFF2-40B4-BE49-F238E27FC236}">
                <a16:creationId xmlns:a16="http://schemas.microsoft.com/office/drawing/2014/main" id="{F1494337-D659-2EE4-1C22-79F7558CEE0E}"/>
              </a:ext>
            </a:extLst>
          </p:cNvPr>
          <p:cNvSpPr/>
          <p:nvPr/>
        </p:nvSpPr>
        <p:spPr>
          <a:xfrm>
            <a:off x="6199632" y="1097280"/>
            <a:ext cx="5468112" cy="3939540"/>
          </a:xfrm>
          <a:prstGeom prst="roundRect">
            <a:avLst>
              <a:gd name="adj" fmla="val 1176"/>
            </a:avLst>
          </a:prstGeom>
          <a:solidFill>
            <a:srgbClr val="FFFFFF"/>
          </a:solidFill>
          <a:ln w="9525">
            <a:solidFill>
              <a:srgbClr val="C7D2DD"/>
            </a:solidFill>
            <a:prstDash val="solid"/>
          </a:ln>
          <a:effectLst>
            <a:outerShdw blurRad="127000" dist="38100" dir="5400000" algn="bl" rotWithShape="0">
              <a:srgbClr val="000000">
                <a:alpha val="12000"/>
              </a:srgbClr>
            </a:outerShdw>
          </a:effectLst>
        </p:spPr>
        <p:txBody>
          <a:bodyPr/>
          <a:lstStyle/>
          <a:p>
            <a:endParaRPr lang="en-US"/>
          </a:p>
        </p:txBody>
      </p:sp>
      <p:sp>
        <p:nvSpPr>
          <p:cNvPr id="36" name="Shape 7">
            <a:extLst>
              <a:ext uri="{FF2B5EF4-FFF2-40B4-BE49-F238E27FC236}">
                <a16:creationId xmlns:a16="http://schemas.microsoft.com/office/drawing/2014/main" id="{5374BEC9-98B3-62B6-3082-BFE066E528FC}"/>
              </a:ext>
            </a:extLst>
          </p:cNvPr>
          <p:cNvSpPr/>
          <p:nvPr/>
        </p:nvSpPr>
        <p:spPr>
          <a:xfrm>
            <a:off x="6428232" y="1353312"/>
            <a:ext cx="64008" cy="201168"/>
          </a:xfrm>
          <a:prstGeom prst="rect">
            <a:avLst/>
          </a:prstGeom>
          <a:solidFill>
            <a:srgbClr val="8C2331"/>
          </a:solidFill>
          <a:ln/>
        </p:spPr>
        <p:txBody>
          <a:bodyPr/>
          <a:lstStyle/>
          <a:p>
            <a:endParaRPr lang="en-US"/>
          </a:p>
        </p:txBody>
      </p:sp>
      <p:sp>
        <p:nvSpPr>
          <p:cNvPr id="38" name="Text 9">
            <a:extLst>
              <a:ext uri="{FF2B5EF4-FFF2-40B4-BE49-F238E27FC236}">
                <a16:creationId xmlns:a16="http://schemas.microsoft.com/office/drawing/2014/main" id="{540564C9-C8CC-5AB8-E5E9-1872F0187602}"/>
              </a:ext>
            </a:extLst>
          </p:cNvPr>
          <p:cNvSpPr/>
          <p:nvPr/>
        </p:nvSpPr>
        <p:spPr>
          <a:xfrm>
            <a:off x="6428232" y="1746504"/>
            <a:ext cx="5029200" cy="3657600"/>
          </a:xfrm>
          <a:prstGeom prst="rect">
            <a:avLst/>
          </a:prstGeom>
          <a:noFill/>
          <a:ln/>
        </p:spPr>
        <p:txBody>
          <a:bodyPr wrap="square" rtlCol="0" anchor="t"/>
          <a:lstStyle/>
          <a:p>
            <a:r>
              <a:rPr lang="en-US" dirty="0">
                <a:solidFill>
                  <a:srgbClr val="1A1A1A"/>
                </a:solidFill>
                <a:latin typeface="Calibri" pitchFamily="34" charset="0"/>
                <a:ea typeface="Calibri" pitchFamily="34" charset="-122"/>
                <a:cs typeface="Calibri" pitchFamily="34" charset="-120"/>
              </a:rPr>
              <a:t>Did the authors actually work with the microdata, or do they only mention it?</a:t>
            </a:r>
          </a:p>
          <a:p>
            <a:r>
              <a:rPr lang="en-US" dirty="0">
                <a:solidFill>
                  <a:srgbClr val="1A1A1A"/>
                </a:solidFill>
                <a:latin typeface="Calibri" pitchFamily="34" charset="0"/>
                <a:ea typeface="Calibri" pitchFamily="34" charset="-122"/>
                <a:cs typeface="Calibri" pitchFamily="34" charset="-120"/>
              </a:rPr>
              <a:t>Strong (2 pt) examples:</a:t>
            </a:r>
          </a:p>
          <a:p>
            <a:pPr marL="285750" indent="-285750">
              <a:buFont typeface="Arial" panose="020B0604020202020204" pitchFamily="34" charset="0"/>
              <a:buChar char="•"/>
            </a:pPr>
            <a:r>
              <a:rPr lang="en-US" dirty="0">
                <a:solidFill>
                  <a:srgbClr val="1A1A1A"/>
                </a:solidFill>
                <a:latin typeface="Calibri" pitchFamily="34" charset="0"/>
                <a:ea typeface="Calibri" pitchFamily="34" charset="-122"/>
                <a:cs typeface="Calibri" pitchFamily="34" charset="-120"/>
              </a:rPr>
              <a:t>First-person data use language within 40 words of keyword (“we use”, “using data from”, “microdata”)</a:t>
            </a:r>
          </a:p>
          <a:p>
            <a:pPr marL="285750" indent="-285750">
              <a:buFont typeface="Arial" panose="020B0604020202020204" pitchFamily="34" charset="0"/>
              <a:buChar char="•"/>
            </a:pPr>
            <a:r>
              <a:rPr lang="en-US" dirty="0">
                <a:solidFill>
                  <a:srgbClr val="1A1A1A"/>
                </a:solidFill>
                <a:latin typeface="Calibri" pitchFamily="34" charset="0"/>
                <a:ea typeface="Calibri" pitchFamily="34" charset="-122"/>
                <a:cs typeface="Calibri" pitchFamily="34" charset="-120"/>
              </a:rPr>
              <a:t>Uses microdata URL</a:t>
            </a:r>
          </a:p>
          <a:p>
            <a:r>
              <a:rPr lang="en-US" dirty="0">
                <a:solidFill>
                  <a:srgbClr val="1A1A1A"/>
                </a:solidFill>
                <a:latin typeface="Calibri" pitchFamily="34" charset="0"/>
                <a:ea typeface="Calibri" pitchFamily="34" charset="-122"/>
                <a:cs typeface="Calibri" pitchFamily="34" charset="-120"/>
              </a:rPr>
              <a:t>Weak (1 p) examples:</a:t>
            </a:r>
          </a:p>
          <a:p>
            <a:pPr marL="285750" indent="-285750">
              <a:buFont typeface="Arial" panose="020B0604020202020204" pitchFamily="34" charset="0"/>
              <a:buChar char="•"/>
            </a:pPr>
            <a:r>
              <a:rPr lang="en-US" dirty="0">
                <a:solidFill>
                  <a:srgbClr val="1A1A1A"/>
                </a:solidFill>
                <a:latin typeface="Calibri" pitchFamily="34" charset="0"/>
                <a:ea typeface="Calibri" pitchFamily="34" charset="-122"/>
                <a:cs typeface="Calibri" pitchFamily="34" charset="-120"/>
              </a:rPr>
              <a:t>Abstract names the survey AND uses weaker or broader data-source language (“World Bank”)</a:t>
            </a:r>
          </a:p>
        </p:txBody>
      </p:sp>
      <p:sp>
        <p:nvSpPr>
          <p:cNvPr id="40" name="Text 8">
            <a:extLst>
              <a:ext uri="{FF2B5EF4-FFF2-40B4-BE49-F238E27FC236}">
                <a16:creationId xmlns:a16="http://schemas.microsoft.com/office/drawing/2014/main" id="{3A57B3A7-31BB-2676-3DF2-6C35E08621FD}"/>
              </a:ext>
            </a:extLst>
          </p:cNvPr>
          <p:cNvSpPr/>
          <p:nvPr/>
        </p:nvSpPr>
        <p:spPr>
          <a:xfrm>
            <a:off x="6592824" y="1325880"/>
            <a:ext cx="7315200" cy="274320"/>
          </a:xfrm>
          <a:prstGeom prst="rect">
            <a:avLst/>
          </a:prstGeom>
          <a:noFill/>
          <a:ln/>
        </p:spPr>
        <p:txBody>
          <a:bodyPr wrap="square" rtlCol="0" anchor="ctr"/>
          <a:lstStyle/>
          <a:p>
            <a:pPr marL="0" indent="0">
              <a:buNone/>
            </a:pPr>
            <a:r>
              <a:rPr lang="en-US" sz="1250" b="1" kern="0" spc="100" dirty="0">
                <a:solidFill>
                  <a:srgbClr val="004370"/>
                </a:solidFill>
                <a:latin typeface="Calibri" pitchFamily="34" charset="0"/>
                <a:ea typeface="Calibri" pitchFamily="34" charset="-122"/>
                <a:cs typeface="Calibri" pitchFamily="34" charset="-120"/>
              </a:rPr>
              <a:t>USE SCORE</a:t>
            </a:r>
            <a:endParaRPr lang="en-US" sz="1250" dirty="0"/>
          </a:p>
        </p:txBody>
      </p:sp>
      <p:sp>
        <p:nvSpPr>
          <p:cNvPr id="42" name="Text 10">
            <a:extLst>
              <a:ext uri="{FF2B5EF4-FFF2-40B4-BE49-F238E27FC236}">
                <a16:creationId xmlns:a16="http://schemas.microsoft.com/office/drawing/2014/main" id="{07035E96-111C-2994-B242-88FE48A2B3AC}"/>
              </a:ext>
            </a:extLst>
          </p:cNvPr>
          <p:cNvSpPr/>
          <p:nvPr/>
        </p:nvSpPr>
        <p:spPr>
          <a:xfrm>
            <a:off x="504291" y="5166360"/>
            <a:ext cx="11183112" cy="365760"/>
          </a:xfrm>
          <a:prstGeom prst="rect">
            <a:avLst/>
          </a:prstGeom>
          <a:noFill/>
          <a:ln/>
        </p:spPr>
        <p:txBody>
          <a:bodyPr wrap="square" rtlCol="0" anchor="ctr"/>
          <a:lstStyle/>
          <a:p>
            <a:pPr marL="0" indent="0">
              <a:buNone/>
            </a:pPr>
            <a:r>
              <a:rPr lang="en-US" sz="1250" b="1" i="1" dirty="0">
                <a:solidFill>
                  <a:srgbClr val="004370"/>
                </a:solidFill>
                <a:latin typeface="Calibri" pitchFamily="34" charset="0"/>
                <a:ea typeface="Calibri" pitchFamily="34" charset="-122"/>
                <a:cs typeface="Calibri" pitchFamily="34" charset="-120"/>
              </a:rPr>
              <a:t>A paper is retained only if identity and use both reach a threshold of 2 points.</a:t>
            </a:r>
            <a:endParaRPr lang="en-US" sz="1250" dirty="0"/>
          </a:p>
        </p:txBody>
      </p:sp>
    </p:spTree>
    <p:extLst>
      <p:ext uri="{BB962C8B-B14F-4D97-AF65-F5344CB8AC3E}">
        <p14:creationId xmlns:p14="http://schemas.microsoft.com/office/powerpoint/2010/main" val="18460750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pic>
        <p:nvPicPr>
          <p:cNvPr id="2" name="Image 0" descr="/home/claude/pptx_project/lsms_brand/content_bg.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94360" y="146304"/>
            <a:ext cx="10698480" cy="658368"/>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The Product</a:t>
            </a:r>
            <a:endParaRPr lang="en-US" sz="3000" dirty="0"/>
          </a:p>
        </p:txBody>
      </p:sp>
      <p:sp>
        <p:nvSpPr>
          <p:cNvPr id="4" name="Text 1"/>
          <p:cNvSpPr/>
          <p:nvPr/>
        </p:nvSpPr>
        <p:spPr>
          <a:xfrm>
            <a:off x="914400" y="1508760"/>
            <a:ext cx="3383280" cy="365760"/>
          </a:xfrm>
          <a:prstGeom prst="rect">
            <a:avLst/>
          </a:prstGeom>
          <a:noFill/>
          <a:ln/>
        </p:spPr>
        <p:txBody>
          <a:bodyPr wrap="square" rtlCol="0" anchor="ctr"/>
          <a:lstStyle/>
          <a:p>
            <a:pPr marL="0" indent="0" algn="ctr">
              <a:buNone/>
            </a:pPr>
            <a:r>
              <a:rPr lang="en-US" sz="1500" b="1" dirty="0">
                <a:solidFill>
                  <a:srgbClr val="163454"/>
                </a:solidFill>
                <a:latin typeface="Calibri" pitchFamily="34" charset="0"/>
                <a:ea typeface="Calibri" pitchFamily="34" charset="-122"/>
                <a:cs typeface="Calibri" pitchFamily="34" charset="-120"/>
              </a:rPr>
              <a:t>1. Start</a:t>
            </a:r>
            <a:endParaRPr lang="en-US" sz="1500" dirty="0"/>
          </a:p>
        </p:txBody>
      </p:sp>
      <p:sp>
        <p:nvSpPr>
          <p:cNvPr id="5" name="Shape 2"/>
          <p:cNvSpPr/>
          <p:nvPr/>
        </p:nvSpPr>
        <p:spPr>
          <a:xfrm>
            <a:off x="1504188" y="1920240"/>
            <a:ext cx="2203704" cy="2176272"/>
          </a:xfrm>
          <a:prstGeom prst="rect">
            <a:avLst/>
          </a:prstGeom>
          <a:solidFill>
            <a:srgbClr val="FFFFFF"/>
          </a:solidFill>
          <a:ln w="12700">
            <a:solidFill>
              <a:srgbClr val="C7D2DD"/>
            </a:solidFill>
            <a:prstDash val="solid"/>
          </a:ln>
        </p:spPr>
        <p:txBody>
          <a:bodyPr/>
          <a:lstStyle/>
          <a:p>
            <a:endParaRPr lang="en-US"/>
          </a:p>
        </p:txBody>
      </p:sp>
      <p:pic>
        <p:nvPicPr>
          <p:cNvPr id="6" name="Image 1" descr="/home/claude/pptx_project/unpacked_docx/word/media/image1.png"/>
          <p:cNvPicPr>
            <a:picLocks noChangeAspect="1"/>
          </p:cNvPicPr>
          <p:nvPr/>
        </p:nvPicPr>
        <p:blipFill>
          <a:blip r:embed="rId4"/>
          <a:stretch>
            <a:fillRect/>
          </a:stretch>
        </p:blipFill>
        <p:spPr>
          <a:xfrm>
            <a:off x="1531620" y="1947672"/>
            <a:ext cx="2148840" cy="2121408"/>
          </a:xfrm>
          <a:prstGeom prst="rect">
            <a:avLst/>
          </a:prstGeom>
        </p:spPr>
      </p:pic>
      <p:sp>
        <p:nvSpPr>
          <p:cNvPr id="7" name="Text 3"/>
          <p:cNvSpPr/>
          <p:nvPr/>
        </p:nvSpPr>
        <p:spPr>
          <a:xfrm>
            <a:off x="4480560" y="1508760"/>
            <a:ext cx="3383280" cy="365760"/>
          </a:xfrm>
          <a:prstGeom prst="rect">
            <a:avLst/>
          </a:prstGeom>
          <a:noFill/>
          <a:ln/>
        </p:spPr>
        <p:txBody>
          <a:bodyPr wrap="square" rtlCol="0" anchor="ctr"/>
          <a:lstStyle/>
          <a:p>
            <a:pPr marL="0" indent="0" algn="ctr">
              <a:buNone/>
            </a:pPr>
            <a:r>
              <a:rPr lang="en-US" sz="1500" b="1" dirty="0">
                <a:solidFill>
                  <a:srgbClr val="163454"/>
                </a:solidFill>
                <a:latin typeface="Calibri" pitchFamily="34" charset="0"/>
                <a:ea typeface="Calibri" pitchFamily="34" charset="-122"/>
                <a:cs typeface="Calibri" pitchFamily="34" charset="-120"/>
              </a:rPr>
              <a:t>2. Run (~5 min)</a:t>
            </a:r>
            <a:endParaRPr lang="en-US" sz="1500" dirty="0"/>
          </a:p>
        </p:txBody>
      </p:sp>
      <p:sp>
        <p:nvSpPr>
          <p:cNvPr id="8" name="Shape 4"/>
          <p:cNvSpPr/>
          <p:nvPr/>
        </p:nvSpPr>
        <p:spPr>
          <a:xfrm>
            <a:off x="5070348" y="1920240"/>
            <a:ext cx="2203704" cy="2176272"/>
          </a:xfrm>
          <a:prstGeom prst="rect">
            <a:avLst/>
          </a:prstGeom>
          <a:solidFill>
            <a:srgbClr val="FFFFFF"/>
          </a:solidFill>
          <a:ln w="12700">
            <a:solidFill>
              <a:srgbClr val="C7D2DD"/>
            </a:solidFill>
            <a:prstDash val="solid"/>
          </a:ln>
        </p:spPr>
        <p:txBody>
          <a:bodyPr/>
          <a:lstStyle/>
          <a:p>
            <a:endParaRPr lang="en-US"/>
          </a:p>
        </p:txBody>
      </p:sp>
      <p:pic>
        <p:nvPicPr>
          <p:cNvPr id="9" name="Image 2" descr="/home/claude/pptx_project/unpacked_docx/word/media/image2.png"/>
          <p:cNvPicPr>
            <a:picLocks noChangeAspect="1"/>
          </p:cNvPicPr>
          <p:nvPr/>
        </p:nvPicPr>
        <p:blipFill>
          <a:blip r:embed="rId5"/>
          <a:stretch>
            <a:fillRect/>
          </a:stretch>
        </p:blipFill>
        <p:spPr>
          <a:xfrm>
            <a:off x="5097780" y="1947672"/>
            <a:ext cx="2148840" cy="2121408"/>
          </a:xfrm>
          <a:prstGeom prst="rect">
            <a:avLst/>
          </a:prstGeom>
        </p:spPr>
      </p:pic>
      <p:sp>
        <p:nvSpPr>
          <p:cNvPr id="10" name="Text 5"/>
          <p:cNvSpPr/>
          <p:nvPr/>
        </p:nvSpPr>
        <p:spPr>
          <a:xfrm>
            <a:off x="8046720" y="1508760"/>
            <a:ext cx="3383280" cy="365760"/>
          </a:xfrm>
          <a:prstGeom prst="rect">
            <a:avLst/>
          </a:prstGeom>
          <a:noFill/>
          <a:ln/>
        </p:spPr>
        <p:txBody>
          <a:bodyPr wrap="square" rtlCol="0" anchor="ctr"/>
          <a:lstStyle/>
          <a:p>
            <a:pPr marL="0" indent="0" algn="ctr">
              <a:buNone/>
            </a:pPr>
            <a:r>
              <a:rPr lang="en-US" sz="1500" b="1" dirty="0">
                <a:solidFill>
                  <a:srgbClr val="163454"/>
                </a:solidFill>
                <a:latin typeface="Calibri" pitchFamily="34" charset="0"/>
                <a:ea typeface="Calibri" pitchFamily="34" charset="-122"/>
                <a:cs typeface="Calibri" pitchFamily="34" charset="-120"/>
              </a:rPr>
              <a:t>3. Complete</a:t>
            </a:r>
            <a:endParaRPr lang="en-US" sz="1500" dirty="0"/>
          </a:p>
        </p:txBody>
      </p:sp>
      <p:sp>
        <p:nvSpPr>
          <p:cNvPr id="11" name="Shape 6"/>
          <p:cNvSpPr/>
          <p:nvPr/>
        </p:nvSpPr>
        <p:spPr>
          <a:xfrm>
            <a:off x="8636508" y="1920240"/>
            <a:ext cx="2203704" cy="2176272"/>
          </a:xfrm>
          <a:prstGeom prst="rect">
            <a:avLst/>
          </a:prstGeom>
          <a:solidFill>
            <a:srgbClr val="FFFFFF"/>
          </a:solidFill>
          <a:ln w="12700">
            <a:solidFill>
              <a:srgbClr val="C7D2DD"/>
            </a:solidFill>
            <a:prstDash val="solid"/>
          </a:ln>
        </p:spPr>
        <p:txBody>
          <a:bodyPr/>
          <a:lstStyle/>
          <a:p>
            <a:endParaRPr lang="en-US"/>
          </a:p>
        </p:txBody>
      </p:sp>
      <p:pic>
        <p:nvPicPr>
          <p:cNvPr id="12" name="Image 3" descr="/home/claude/pptx_project/unpacked_docx/word/media/image3.png"/>
          <p:cNvPicPr>
            <a:picLocks noChangeAspect="1"/>
          </p:cNvPicPr>
          <p:nvPr/>
        </p:nvPicPr>
        <p:blipFill>
          <a:blip r:embed="rId6"/>
          <a:stretch>
            <a:fillRect/>
          </a:stretch>
        </p:blipFill>
        <p:spPr>
          <a:xfrm>
            <a:off x="8663940" y="1947672"/>
            <a:ext cx="2148840" cy="2121408"/>
          </a:xfrm>
          <a:prstGeom prst="rect">
            <a:avLst/>
          </a:prstGeom>
        </p:spPr>
      </p:pic>
      <p:sp>
        <p:nvSpPr>
          <p:cNvPr id="13" name="Text 7"/>
          <p:cNvSpPr/>
          <p:nvPr/>
        </p:nvSpPr>
        <p:spPr>
          <a:xfrm>
            <a:off x="777240" y="4434840"/>
            <a:ext cx="10607040" cy="822960"/>
          </a:xfrm>
          <a:prstGeom prst="rect">
            <a:avLst/>
          </a:prstGeom>
          <a:noFill/>
          <a:ln/>
        </p:spPr>
        <p:txBody>
          <a:bodyPr wrap="square" rtlCol="0" anchor="ctr"/>
          <a:lstStyle/>
          <a:p>
            <a:pPr algn="ctr"/>
            <a:r>
              <a:rPr lang="en-US" sz="1600" b="1" dirty="0">
                <a:solidFill>
                  <a:srgbClr val="163454"/>
                </a:solidFill>
                <a:latin typeface="Calibri" pitchFamily="34" charset="0"/>
                <a:ea typeface="Calibri" pitchFamily="34" charset="-122"/>
                <a:cs typeface="Calibri" pitchFamily="34" charset="-120"/>
              </a:rPr>
              <a:t>Output: </a:t>
            </a:r>
            <a:r>
              <a:rPr lang="en-US" sz="1600" dirty="0">
                <a:solidFill>
                  <a:srgbClr val="1A1A1A"/>
                </a:solidFill>
                <a:latin typeface="Calibri" pitchFamily="34" charset="0"/>
                <a:ea typeface="Calibri" pitchFamily="34" charset="-122"/>
                <a:cs typeface="Calibri" pitchFamily="34" charset="-120"/>
              </a:rPr>
              <a:t>one Excel workbook with six sheets, Papers, Analysis, FY Trend, Keywords, Search Log, and Not Relevant (Backup). </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4C55F-A082-C38E-54C2-E3D972EF1BB9}"/>
            </a:ext>
          </a:extLst>
        </p:cNvPr>
        <p:cNvGrpSpPr/>
        <p:nvPr/>
      </p:nvGrpSpPr>
      <p:grpSpPr>
        <a:xfrm>
          <a:off x="0" y="0"/>
          <a:ext cx="0" cy="0"/>
          <a:chOff x="0" y="0"/>
          <a:chExt cx="0" cy="0"/>
        </a:xfrm>
      </p:grpSpPr>
      <p:pic>
        <p:nvPicPr>
          <p:cNvPr id="2" name="Image 0" descr="/home/claude/pptx_project/lsms_brand/content_bg.png">
            <a:extLst>
              <a:ext uri="{FF2B5EF4-FFF2-40B4-BE49-F238E27FC236}">
                <a16:creationId xmlns:a16="http://schemas.microsoft.com/office/drawing/2014/main" id="{4A135938-010D-1B99-5E5F-660A95ECA91F}"/>
              </a:ext>
            </a:extLst>
          </p:cNvPr>
          <p:cNvPicPr>
            <a:picLocks noChangeAspect="1"/>
          </p:cNvPicPr>
          <p:nvPr/>
        </p:nvPicPr>
        <p:blipFill>
          <a:blip r:embed="rId3"/>
          <a:stretch>
            <a:fillRect/>
          </a:stretch>
        </p:blipFill>
        <p:spPr>
          <a:xfrm>
            <a:off x="0" y="0"/>
            <a:ext cx="12191695" cy="6858000"/>
          </a:xfrm>
          <a:prstGeom prst="rect">
            <a:avLst/>
          </a:prstGeom>
        </p:spPr>
      </p:pic>
      <p:sp>
        <p:nvSpPr>
          <p:cNvPr id="3" name="Text 0">
            <a:extLst>
              <a:ext uri="{FF2B5EF4-FFF2-40B4-BE49-F238E27FC236}">
                <a16:creationId xmlns:a16="http://schemas.microsoft.com/office/drawing/2014/main" id="{93E68405-6E12-AFB4-7C65-408396930454}"/>
              </a:ext>
            </a:extLst>
          </p:cNvPr>
          <p:cNvSpPr/>
          <p:nvPr/>
        </p:nvSpPr>
        <p:spPr>
          <a:xfrm>
            <a:off x="594360" y="146304"/>
            <a:ext cx="10698480" cy="658368"/>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Output: Papers Sheet</a:t>
            </a:r>
            <a:endParaRPr lang="en-US" sz="3000" dirty="0"/>
          </a:p>
        </p:txBody>
      </p:sp>
      <p:sp>
        <p:nvSpPr>
          <p:cNvPr id="13" name="Text 7">
            <a:extLst>
              <a:ext uri="{FF2B5EF4-FFF2-40B4-BE49-F238E27FC236}">
                <a16:creationId xmlns:a16="http://schemas.microsoft.com/office/drawing/2014/main" id="{AFE646A2-597B-0158-C51D-277A40381561}"/>
              </a:ext>
            </a:extLst>
          </p:cNvPr>
          <p:cNvSpPr/>
          <p:nvPr/>
        </p:nvSpPr>
        <p:spPr>
          <a:xfrm>
            <a:off x="594207" y="1366100"/>
            <a:ext cx="5501640" cy="4326623"/>
          </a:xfrm>
          <a:prstGeom prst="rect">
            <a:avLst/>
          </a:prstGeom>
          <a:noFill/>
          <a:ln/>
        </p:spPr>
        <p:txBody>
          <a:bodyPr wrap="square" rtlCol="0" anchor="t"/>
          <a:lstStyle/>
          <a:p>
            <a:r>
              <a:rPr lang="en-US" sz="1600" b="1" dirty="0">
                <a:solidFill>
                  <a:srgbClr val="163454"/>
                </a:solidFill>
                <a:latin typeface="Calibri" pitchFamily="34" charset="0"/>
                <a:ea typeface="Calibri" pitchFamily="34" charset="-122"/>
                <a:cs typeface="Calibri" pitchFamily="34" charset="-120"/>
              </a:rPr>
              <a:t>Data available for each paper: </a:t>
            </a:r>
          </a:p>
          <a:p>
            <a:pPr marL="285750" indent="-285750">
              <a:buFont typeface="Arial" panose="020B0604020202020204" pitchFamily="34" charset="0"/>
              <a:buChar char="•"/>
            </a:pPr>
            <a:r>
              <a:rPr lang="en-US" sz="1600" dirty="0">
                <a:solidFill>
                  <a:srgbClr val="1A1A1A"/>
                </a:solidFill>
                <a:latin typeface="Calibri" pitchFamily="34" charset="0"/>
                <a:ea typeface="Calibri" pitchFamily="34" charset="-122"/>
                <a:cs typeface="Calibri" pitchFamily="34" charset="-120"/>
              </a:rPr>
              <a:t>title, </a:t>
            </a:r>
          </a:p>
          <a:p>
            <a:pPr marL="285750" indent="-285750">
              <a:buFont typeface="Arial" panose="020B0604020202020204" pitchFamily="34" charset="0"/>
              <a:buChar char="•"/>
            </a:pPr>
            <a:r>
              <a:rPr lang="en-US" sz="1600" dirty="0">
                <a:solidFill>
                  <a:srgbClr val="1A1A1A"/>
                </a:solidFill>
                <a:latin typeface="Calibri" pitchFamily="34" charset="0"/>
                <a:ea typeface="Calibri" pitchFamily="34" charset="-122"/>
                <a:cs typeface="Calibri" pitchFamily="34" charset="-120"/>
              </a:rPr>
              <a:t>DOI, and </a:t>
            </a:r>
            <a:r>
              <a:rPr lang="en-US" sz="1600" dirty="0" err="1">
                <a:solidFill>
                  <a:srgbClr val="1A1A1A"/>
                </a:solidFill>
                <a:latin typeface="Calibri" pitchFamily="34" charset="0"/>
                <a:ea typeface="Calibri" pitchFamily="34" charset="-122"/>
                <a:cs typeface="Calibri" pitchFamily="34" charset="-120"/>
              </a:rPr>
              <a:t>OpenAlex</a:t>
            </a:r>
            <a:r>
              <a:rPr lang="en-US" sz="1600" dirty="0">
                <a:solidFill>
                  <a:srgbClr val="1A1A1A"/>
                </a:solidFill>
                <a:latin typeface="Calibri" pitchFamily="34" charset="0"/>
                <a:ea typeface="Calibri" pitchFamily="34" charset="-122"/>
                <a:cs typeface="Calibri" pitchFamily="34" charset="-120"/>
              </a:rPr>
              <a:t> URL, </a:t>
            </a:r>
          </a:p>
          <a:p>
            <a:pPr marL="285750" indent="-285750">
              <a:buFont typeface="Arial" panose="020B0604020202020204" pitchFamily="34" charset="0"/>
              <a:buChar char="•"/>
            </a:pPr>
            <a:r>
              <a:rPr lang="en-US" sz="1600" dirty="0">
                <a:solidFill>
                  <a:srgbClr val="1A1A1A"/>
                </a:solidFill>
                <a:latin typeface="Calibri" pitchFamily="34" charset="0"/>
                <a:ea typeface="Calibri" pitchFamily="34" charset="-122"/>
                <a:cs typeface="Calibri" pitchFamily="34" charset="-120"/>
              </a:rPr>
              <a:t>authors, </a:t>
            </a:r>
          </a:p>
          <a:p>
            <a:pPr marL="285750" indent="-285750">
              <a:buFont typeface="Arial" panose="020B0604020202020204" pitchFamily="34" charset="0"/>
              <a:buChar char="•"/>
            </a:pPr>
            <a:r>
              <a:rPr lang="en-US" sz="1600" dirty="0">
                <a:solidFill>
                  <a:srgbClr val="1A1A1A"/>
                </a:solidFill>
                <a:latin typeface="Calibri" pitchFamily="34" charset="0"/>
                <a:ea typeface="Calibri" pitchFamily="34" charset="-122"/>
                <a:cs typeface="Calibri" pitchFamily="34" charset="-120"/>
              </a:rPr>
              <a:t>institutional affiliations, </a:t>
            </a:r>
          </a:p>
          <a:p>
            <a:pPr marL="285750" indent="-285750">
              <a:buFont typeface="Arial" panose="020B0604020202020204" pitchFamily="34" charset="0"/>
              <a:buChar char="•"/>
            </a:pPr>
            <a:r>
              <a:rPr lang="en-US" sz="1600" dirty="0">
                <a:solidFill>
                  <a:srgbClr val="1A1A1A"/>
                </a:solidFill>
                <a:latin typeface="Calibri" pitchFamily="34" charset="0"/>
                <a:ea typeface="Calibri" pitchFamily="34" charset="-122"/>
                <a:cs typeface="Calibri" pitchFamily="34" charset="-120"/>
              </a:rPr>
              <a:t>publication year/ </a:t>
            </a:r>
            <a:r>
              <a:rPr lang="en-US" sz="1600" b="1" dirty="0">
                <a:solidFill>
                  <a:srgbClr val="1A1A1A"/>
                </a:solidFill>
                <a:latin typeface="Calibri" pitchFamily="34" charset="0"/>
                <a:ea typeface="Calibri" pitchFamily="34" charset="-122"/>
                <a:cs typeface="Calibri" pitchFamily="34" charset="-120"/>
              </a:rPr>
              <a:t>WBG FY</a:t>
            </a:r>
            <a:r>
              <a:rPr lang="en-US" sz="1600" dirty="0">
                <a:solidFill>
                  <a:srgbClr val="1A1A1A"/>
                </a:solidFill>
                <a:latin typeface="Calibri" pitchFamily="34" charset="0"/>
                <a:ea typeface="Calibri" pitchFamily="34" charset="-122"/>
                <a:cs typeface="Calibri" pitchFamily="34" charset="-120"/>
              </a:rPr>
              <a:t>, </a:t>
            </a:r>
          </a:p>
          <a:p>
            <a:pPr marL="285750" indent="-285750">
              <a:buFont typeface="Arial" panose="020B0604020202020204" pitchFamily="34" charset="0"/>
              <a:buChar char="•"/>
            </a:pPr>
            <a:r>
              <a:rPr lang="en-US" sz="1600" dirty="0">
                <a:solidFill>
                  <a:srgbClr val="1A1A1A"/>
                </a:solidFill>
                <a:latin typeface="Calibri" pitchFamily="34" charset="0"/>
                <a:ea typeface="Calibri" pitchFamily="34" charset="-122"/>
                <a:cs typeface="Calibri" pitchFamily="34" charset="-120"/>
              </a:rPr>
              <a:t>dataset country, WBG global region</a:t>
            </a:r>
          </a:p>
          <a:p>
            <a:pPr marL="285750" indent="-285750">
              <a:buFont typeface="Arial" panose="020B0604020202020204" pitchFamily="34" charset="0"/>
              <a:buChar char="•"/>
            </a:pPr>
            <a:r>
              <a:rPr lang="en-US" sz="1600" dirty="0">
                <a:solidFill>
                  <a:srgbClr val="1A1A1A"/>
                </a:solidFill>
                <a:latin typeface="Calibri" pitchFamily="34" charset="0"/>
                <a:ea typeface="Calibri" pitchFamily="34" charset="-122"/>
                <a:cs typeface="Calibri" pitchFamily="34" charset="-120"/>
              </a:rPr>
              <a:t>research affiliate countries,</a:t>
            </a:r>
          </a:p>
          <a:p>
            <a:pPr marL="285750" indent="-285750">
              <a:buFont typeface="Arial" panose="020B0604020202020204" pitchFamily="34" charset="0"/>
              <a:buChar char="•"/>
            </a:pPr>
            <a:r>
              <a:rPr lang="en-US" sz="1600" dirty="0">
                <a:solidFill>
                  <a:srgbClr val="1A1A1A"/>
                </a:solidFill>
                <a:latin typeface="Calibri" pitchFamily="34" charset="0"/>
                <a:ea typeface="Calibri" pitchFamily="34" charset="-122"/>
                <a:cs typeface="Calibri" pitchFamily="34" charset="-120"/>
              </a:rPr>
              <a:t>research topic, </a:t>
            </a:r>
          </a:p>
          <a:p>
            <a:pPr marL="285750" indent="-285750">
              <a:buFont typeface="Arial" panose="020B0604020202020204" pitchFamily="34" charset="0"/>
              <a:buChar char="•"/>
            </a:pPr>
            <a:r>
              <a:rPr lang="en-US" sz="1600" dirty="0">
                <a:solidFill>
                  <a:srgbClr val="1A1A1A"/>
                </a:solidFill>
                <a:latin typeface="Calibri" pitchFamily="34" charset="0"/>
                <a:ea typeface="Calibri" pitchFamily="34" charset="-122"/>
                <a:cs typeface="Calibri" pitchFamily="34" charset="-120"/>
              </a:rPr>
              <a:t>full abstract,</a:t>
            </a:r>
          </a:p>
          <a:p>
            <a:pPr marL="285750" indent="-285750">
              <a:buFont typeface="Arial" panose="020B0604020202020204" pitchFamily="34" charset="0"/>
              <a:buChar char="•"/>
            </a:pPr>
            <a:r>
              <a:rPr lang="en-US" sz="1600" dirty="0">
                <a:solidFill>
                  <a:srgbClr val="1A1A1A"/>
                </a:solidFill>
                <a:latin typeface="Calibri" pitchFamily="34" charset="0"/>
                <a:ea typeface="Calibri" pitchFamily="34" charset="-122"/>
                <a:cs typeface="Calibri" pitchFamily="34" charset="-120"/>
              </a:rPr>
              <a:t>peer-reviewed / working-paper, </a:t>
            </a:r>
          </a:p>
          <a:p>
            <a:pPr marL="285750" indent="-285750">
              <a:buFont typeface="Arial" panose="020B0604020202020204" pitchFamily="34" charset="0"/>
              <a:buChar char="•"/>
            </a:pPr>
            <a:r>
              <a:rPr lang="en-US" sz="1600" dirty="0">
                <a:solidFill>
                  <a:srgbClr val="1A1A1A"/>
                </a:solidFill>
                <a:latin typeface="Calibri" pitchFamily="34" charset="0"/>
                <a:ea typeface="Calibri" pitchFamily="34" charset="-122"/>
                <a:cs typeface="Calibri" pitchFamily="34" charset="-120"/>
              </a:rPr>
              <a:t>journal tier, </a:t>
            </a:r>
          </a:p>
          <a:p>
            <a:pPr marL="285750" indent="-285750">
              <a:buFont typeface="Arial" panose="020B0604020202020204" pitchFamily="34" charset="0"/>
              <a:buChar char="•"/>
            </a:pPr>
            <a:r>
              <a:rPr lang="en-US" sz="1600" dirty="0">
                <a:solidFill>
                  <a:srgbClr val="1A1A1A"/>
                </a:solidFill>
                <a:latin typeface="Calibri" pitchFamily="34" charset="0"/>
                <a:ea typeface="Calibri" pitchFamily="34" charset="-122"/>
                <a:cs typeface="Calibri" pitchFamily="34" charset="-120"/>
              </a:rPr>
              <a:t>survey family, </a:t>
            </a:r>
          </a:p>
          <a:p>
            <a:pPr marL="285750" indent="-285750">
              <a:buFont typeface="Arial" panose="020B0604020202020204" pitchFamily="34" charset="0"/>
              <a:buChar char="•"/>
            </a:pPr>
            <a:r>
              <a:rPr lang="en-US" sz="1600" dirty="0">
                <a:solidFill>
                  <a:srgbClr val="1A1A1A"/>
                </a:solidFill>
                <a:latin typeface="Calibri" pitchFamily="34" charset="0"/>
                <a:ea typeface="Calibri" pitchFamily="34" charset="-122"/>
                <a:cs typeface="Calibri" pitchFamily="34" charset="-120"/>
              </a:rPr>
              <a:t>keywords that matched, </a:t>
            </a:r>
          </a:p>
          <a:p>
            <a:pPr marL="285750" indent="-285750">
              <a:buFont typeface="Arial" panose="020B0604020202020204" pitchFamily="34" charset="0"/>
              <a:buChar char="•"/>
            </a:pPr>
            <a:r>
              <a:rPr lang="en-US" sz="1600" dirty="0">
                <a:solidFill>
                  <a:srgbClr val="1A1A1A"/>
                </a:solidFill>
                <a:latin typeface="Calibri" pitchFamily="34" charset="0"/>
                <a:ea typeface="Calibri" pitchFamily="34" charset="-122"/>
                <a:cs typeface="Calibri" pitchFamily="34" charset="-120"/>
              </a:rPr>
              <a:t>match tier (A/B/C) and reason (in abstract, etc.),</a:t>
            </a:r>
          </a:p>
          <a:p>
            <a:pPr marL="285750" indent="-285750">
              <a:buFont typeface="Arial" panose="020B0604020202020204" pitchFamily="34" charset="0"/>
              <a:buChar char="•"/>
            </a:pPr>
            <a:r>
              <a:rPr lang="en-US" sz="1600" dirty="0">
                <a:solidFill>
                  <a:srgbClr val="1A1A1A"/>
                </a:solidFill>
                <a:latin typeface="Calibri" pitchFamily="34" charset="0"/>
                <a:ea typeface="Calibri" pitchFamily="34" charset="-122"/>
                <a:cs typeface="Calibri" pitchFamily="34" charset="-120"/>
              </a:rPr>
              <a:t>the identity and use scores and the added relevance score</a:t>
            </a:r>
          </a:p>
        </p:txBody>
      </p:sp>
      <p:pic>
        <p:nvPicPr>
          <p:cNvPr id="5" name="Picture 4">
            <a:extLst>
              <a:ext uri="{FF2B5EF4-FFF2-40B4-BE49-F238E27FC236}">
                <a16:creationId xmlns:a16="http://schemas.microsoft.com/office/drawing/2014/main" id="{9E360240-9A9B-468E-02FD-1F1A1D80EBDB}"/>
              </a:ext>
            </a:extLst>
          </p:cNvPr>
          <p:cNvPicPr>
            <a:picLocks noChangeAspect="1"/>
          </p:cNvPicPr>
          <p:nvPr/>
        </p:nvPicPr>
        <p:blipFill>
          <a:blip r:embed="rId4"/>
          <a:srcRect t="878" b="-1"/>
          <a:stretch>
            <a:fillRect/>
          </a:stretch>
        </p:blipFill>
        <p:spPr>
          <a:xfrm>
            <a:off x="4129570" y="1492765"/>
            <a:ext cx="7627398" cy="3009708"/>
          </a:xfrm>
          <a:prstGeom prst="rect">
            <a:avLst/>
          </a:prstGeom>
          <a:ln w="28575">
            <a:solidFill>
              <a:schemeClr val="accent1"/>
            </a:solidFill>
          </a:ln>
        </p:spPr>
      </p:pic>
    </p:spTree>
    <p:extLst>
      <p:ext uri="{BB962C8B-B14F-4D97-AF65-F5344CB8AC3E}">
        <p14:creationId xmlns:p14="http://schemas.microsoft.com/office/powerpoint/2010/main" val="42083691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A6A8D-7E80-1A6E-A272-29DFAF8B3C61}"/>
            </a:ext>
          </a:extLst>
        </p:cNvPr>
        <p:cNvGrpSpPr/>
        <p:nvPr/>
      </p:nvGrpSpPr>
      <p:grpSpPr>
        <a:xfrm>
          <a:off x="0" y="0"/>
          <a:ext cx="0" cy="0"/>
          <a:chOff x="0" y="0"/>
          <a:chExt cx="0" cy="0"/>
        </a:xfrm>
      </p:grpSpPr>
      <p:pic>
        <p:nvPicPr>
          <p:cNvPr id="2" name="Image 0" descr="/home/claude/pptx_project/lsms_brand/content_bg.png">
            <a:extLst>
              <a:ext uri="{FF2B5EF4-FFF2-40B4-BE49-F238E27FC236}">
                <a16:creationId xmlns:a16="http://schemas.microsoft.com/office/drawing/2014/main" id="{12305C79-FE21-CB23-D3B7-24E89D5742CA}"/>
              </a:ext>
            </a:extLst>
          </p:cNvPr>
          <p:cNvPicPr>
            <a:picLocks noChangeAspect="1"/>
          </p:cNvPicPr>
          <p:nvPr/>
        </p:nvPicPr>
        <p:blipFill>
          <a:blip r:embed="rId3"/>
          <a:stretch>
            <a:fillRect/>
          </a:stretch>
        </p:blipFill>
        <p:spPr>
          <a:xfrm>
            <a:off x="0" y="0"/>
            <a:ext cx="12191695" cy="6858000"/>
          </a:xfrm>
          <a:prstGeom prst="rect">
            <a:avLst/>
          </a:prstGeom>
        </p:spPr>
      </p:pic>
      <p:sp>
        <p:nvSpPr>
          <p:cNvPr id="3" name="Text 0">
            <a:extLst>
              <a:ext uri="{FF2B5EF4-FFF2-40B4-BE49-F238E27FC236}">
                <a16:creationId xmlns:a16="http://schemas.microsoft.com/office/drawing/2014/main" id="{69B50E43-C704-139F-0D9D-747979EBE0E4}"/>
              </a:ext>
            </a:extLst>
          </p:cNvPr>
          <p:cNvSpPr/>
          <p:nvPr/>
        </p:nvSpPr>
        <p:spPr>
          <a:xfrm>
            <a:off x="594360" y="146304"/>
            <a:ext cx="10698480" cy="658368"/>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Output: Automatic Analysis Sheet</a:t>
            </a:r>
            <a:endParaRPr lang="en-US" sz="3000" dirty="0"/>
          </a:p>
        </p:txBody>
      </p:sp>
      <p:sp>
        <p:nvSpPr>
          <p:cNvPr id="13" name="Text 7">
            <a:extLst>
              <a:ext uri="{FF2B5EF4-FFF2-40B4-BE49-F238E27FC236}">
                <a16:creationId xmlns:a16="http://schemas.microsoft.com/office/drawing/2014/main" id="{AC815C84-EC51-3219-2248-73C1FD5CD3BA}"/>
              </a:ext>
            </a:extLst>
          </p:cNvPr>
          <p:cNvSpPr/>
          <p:nvPr/>
        </p:nvSpPr>
        <p:spPr>
          <a:xfrm>
            <a:off x="1045945" y="5621424"/>
            <a:ext cx="10607040" cy="822960"/>
          </a:xfrm>
          <a:prstGeom prst="rect">
            <a:avLst/>
          </a:prstGeom>
          <a:noFill/>
          <a:ln/>
        </p:spPr>
        <p:txBody>
          <a:bodyPr wrap="square" rtlCol="0" anchor="ctr"/>
          <a:lstStyle/>
          <a:p>
            <a:pPr marL="0" indent="0">
              <a:buNone/>
            </a:pPr>
            <a:r>
              <a:rPr lang="en-US" sz="1600" b="1" dirty="0">
                <a:solidFill>
                  <a:srgbClr val="163454"/>
                </a:solidFill>
                <a:latin typeface="Calibri" pitchFamily="34" charset="0"/>
                <a:ea typeface="Calibri" pitchFamily="34" charset="-122"/>
                <a:cs typeface="Calibri" pitchFamily="34" charset="-120"/>
              </a:rPr>
              <a:t>Includes key metrics, such as the TOTAL, FLOW, and SHARE</a:t>
            </a:r>
            <a:endParaRPr lang="en-US" sz="1600" dirty="0"/>
          </a:p>
        </p:txBody>
      </p:sp>
      <p:pic>
        <p:nvPicPr>
          <p:cNvPr id="19" name="Picture 18">
            <a:extLst>
              <a:ext uri="{FF2B5EF4-FFF2-40B4-BE49-F238E27FC236}">
                <a16:creationId xmlns:a16="http://schemas.microsoft.com/office/drawing/2014/main" id="{8B41801C-8E5A-5E04-3007-865E40A577B3}"/>
              </a:ext>
            </a:extLst>
          </p:cNvPr>
          <p:cNvPicPr>
            <a:picLocks noChangeAspect="1"/>
          </p:cNvPicPr>
          <p:nvPr/>
        </p:nvPicPr>
        <p:blipFill>
          <a:blip r:embed="rId4"/>
          <a:stretch>
            <a:fillRect/>
          </a:stretch>
        </p:blipFill>
        <p:spPr>
          <a:xfrm>
            <a:off x="1133375" y="1063683"/>
            <a:ext cx="10012680" cy="4710210"/>
          </a:xfrm>
          <a:prstGeom prst="rect">
            <a:avLst/>
          </a:prstGeom>
          <a:ln w="12700">
            <a:solidFill>
              <a:schemeClr val="accent1"/>
            </a:solidFill>
          </a:ln>
        </p:spPr>
      </p:pic>
    </p:spTree>
    <p:extLst>
      <p:ext uri="{BB962C8B-B14F-4D97-AF65-F5344CB8AC3E}">
        <p14:creationId xmlns:p14="http://schemas.microsoft.com/office/powerpoint/2010/main" val="18805265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2" name="Image 0" descr="/home/claude/pptx_project/lsms_brand/content_bg.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94360" y="146304"/>
            <a:ext cx="10698480" cy="658368"/>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Product Strengths</a:t>
            </a:r>
            <a:endParaRPr lang="en-US" sz="3000" dirty="0"/>
          </a:p>
        </p:txBody>
      </p:sp>
      <p:sp>
        <p:nvSpPr>
          <p:cNvPr id="4" name="Shape 1"/>
          <p:cNvSpPr/>
          <p:nvPr/>
        </p:nvSpPr>
        <p:spPr>
          <a:xfrm>
            <a:off x="616501" y="1920240"/>
            <a:ext cx="3520440" cy="3017520"/>
          </a:xfrm>
          <a:prstGeom prst="roundRect">
            <a:avLst>
              <a:gd name="adj" fmla="val 1818"/>
            </a:avLst>
          </a:prstGeom>
          <a:solidFill>
            <a:srgbClr val="F2F2F2"/>
          </a:solidFill>
          <a:ln/>
        </p:spPr>
        <p:txBody>
          <a:bodyPr/>
          <a:lstStyle/>
          <a:p>
            <a:endParaRPr lang="en-US" dirty="0"/>
          </a:p>
        </p:txBody>
      </p:sp>
      <p:sp>
        <p:nvSpPr>
          <p:cNvPr id="5" name="Text 2"/>
          <p:cNvSpPr/>
          <p:nvPr/>
        </p:nvSpPr>
        <p:spPr>
          <a:xfrm>
            <a:off x="822960" y="2392967"/>
            <a:ext cx="3063240" cy="1357884"/>
          </a:xfrm>
          <a:prstGeom prst="rect">
            <a:avLst/>
          </a:prstGeom>
          <a:noFill/>
          <a:ln/>
        </p:spPr>
        <p:txBody>
          <a:bodyPr wrap="square" rtlCol="0" anchor="ctr"/>
          <a:lstStyle/>
          <a:p>
            <a:pPr marL="0" indent="0" algn="ctr">
              <a:buNone/>
            </a:pPr>
            <a:r>
              <a:rPr lang="en-US" sz="4000" b="1" dirty="0">
                <a:solidFill>
                  <a:srgbClr val="163454"/>
                </a:solidFill>
                <a:latin typeface="Calibri" pitchFamily="34" charset="0"/>
                <a:ea typeface="Calibri" pitchFamily="34" charset="-122"/>
                <a:cs typeface="Calibri" pitchFamily="34" charset="-120"/>
              </a:rPr>
              <a:t>52 / 55</a:t>
            </a:r>
            <a:endParaRPr lang="en-US" sz="4000" dirty="0"/>
          </a:p>
        </p:txBody>
      </p:sp>
      <p:sp>
        <p:nvSpPr>
          <p:cNvPr id="6" name="Text 3"/>
          <p:cNvSpPr/>
          <p:nvPr/>
        </p:nvSpPr>
        <p:spPr>
          <a:xfrm>
            <a:off x="859622" y="3303270"/>
            <a:ext cx="3063240" cy="1056132"/>
          </a:xfrm>
          <a:prstGeom prst="rect">
            <a:avLst/>
          </a:prstGeom>
          <a:noFill/>
          <a:ln/>
        </p:spPr>
        <p:txBody>
          <a:bodyPr wrap="square" rtlCol="0" anchor="ctr"/>
          <a:lstStyle/>
          <a:p>
            <a:pPr marL="0" indent="0" algn="ctr">
              <a:buNone/>
            </a:pPr>
            <a:r>
              <a:rPr lang="en-US" sz="1300" dirty="0">
                <a:solidFill>
                  <a:srgbClr val="1A1A1A"/>
                </a:solidFill>
                <a:latin typeface="Calibri" pitchFamily="34" charset="0"/>
                <a:ea typeface="Calibri" pitchFamily="34" charset="-122"/>
                <a:cs typeface="Calibri" pitchFamily="34" charset="-120"/>
              </a:rPr>
              <a:t>papers agree with decision based on manual, paper-by-paper review</a:t>
            </a:r>
            <a:endParaRPr lang="en-US" sz="1300" dirty="0"/>
          </a:p>
        </p:txBody>
      </p:sp>
      <p:sp>
        <p:nvSpPr>
          <p:cNvPr id="14" name="Shape 1">
            <a:extLst>
              <a:ext uri="{FF2B5EF4-FFF2-40B4-BE49-F238E27FC236}">
                <a16:creationId xmlns:a16="http://schemas.microsoft.com/office/drawing/2014/main" id="{E0BC9976-85F1-E7EE-A9CA-02E2BE806026}"/>
              </a:ext>
            </a:extLst>
          </p:cNvPr>
          <p:cNvSpPr/>
          <p:nvPr/>
        </p:nvSpPr>
        <p:spPr>
          <a:xfrm>
            <a:off x="4291498" y="1917581"/>
            <a:ext cx="3520440" cy="3017520"/>
          </a:xfrm>
          <a:prstGeom prst="roundRect">
            <a:avLst>
              <a:gd name="adj" fmla="val 1818"/>
            </a:avLst>
          </a:prstGeom>
          <a:solidFill>
            <a:srgbClr val="F2F2F2"/>
          </a:solidFill>
          <a:ln/>
        </p:spPr>
        <p:txBody>
          <a:bodyPr/>
          <a:lstStyle/>
          <a:p>
            <a:endParaRPr lang="en-US" dirty="0"/>
          </a:p>
        </p:txBody>
      </p:sp>
      <p:sp>
        <p:nvSpPr>
          <p:cNvPr id="18" name="Text 3">
            <a:extLst>
              <a:ext uri="{FF2B5EF4-FFF2-40B4-BE49-F238E27FC236}">
                <a16:creationId xmlns:a16="http://schemas.microsoft.com/office/drawing/2014/main" id="{7F1FAC08-40BA-00A9-78C6-D9069A7EB4B6}"/>
              </a:ext>
            </a:extLst>
          </p:cNvPr>
          <p:cNvSpPr/>
          <p:nvPr/>
        </p:nvSpPr>
        <p:spPr>
          <a:xfrm>
            <a:off x="4544458" y="3639610"/>
            <a:ext cx="3063240" cy="551668"/>
          </a:xfrm>
          <a:prstGeom prst="rect">
            <a:avLst/>
          </a:prstGeom>
          <a:noFill/>
          <a:ln/>
        </p:spPr>
        <p:txBody>
          <a:bodyPr wrap="square" rtlCol="0" anchor="t"/>
          <a:lstStyle/>
          <a:p>
            <a:pPr algn="ctr"/>
            <a:r>
              <a:rPr lang="en-US" sz="1300" dirty="0"/>
              <a:t>free, non-profit, open-source, and open-data</a:t>
            </a:r>
          </a:p>
          <a:p>
            <a:pPr marL="285750" indent="-285750">
              <a:buFont typeface="Arial" panose="020B0604020202020204" pitchFamily="34" charset="0"/>
              <a:buChar char="•"/>
            </a:pPr>
            <a:endParaRPr lang="en-US" sz="1300" dirty="0"/>
          </a:p>
          <a:p>
            <a:pPr marL="285750" indent="-285750">
              <a:buFont typeface="Arial" panose="020B0604020202020204" pitchFamily="34" charset="0"/>
              <a:buChar char="•"/>
            </a:pPr>
            <a:endParaRPr lang="en-US" sz="1300" b="1" dirty="0"/>
          </a:p>
          <a:p>
            <a:pPr marL="285750" indent="-285750">
              <a:buFont typeface="Arial" panose="020B0604020202020204" pitchFamily="34" charset="0"/>
              <a:buChar char="•"/>
            </a:pPr>
            <a:endParaRPr lang="en-US" sz="1300" dirty="0"/>
          </a:p>
          <a:p>
            <a:pPr marL="285750" indent="-285750">
              <a:buFont typeface="Arial" panose="020B0604020202020204" pitchFamily="34" charset="0"/>
              <a:buChar char="•"/>
            </a:pPr>
            <a:endParaRPr lang="en-US" sz="1300" dirty="0"/>
          </a:p>
          <a:p>
            <a:pPr marL="285750" indent="-285750">
              <a:buFont typeface="Arial" panose="020B0604020202020204" pitchFamily="34" charset="0"/>
              <a:buChar char="•"/>
            </a:pPr>
            <a:endParaRPr lang="en-US" sz="1300" dirty="0"/>
          </a:p>
        </p:txBody>
      </p:sp>
      <p:sp>
        <p:nvSpPr>
          <p:cNvPr id="20" name="Shape 1">
            <a:extLst>
              <a:ext uri="{FF2B5EF4-FFF2-40B4-BE49-F238E27FC236}">
                <a16:creationId xmlns:a16="http://schemas.microsoft.com/office/drawing/2014/main" id="{9D4B3994-B58E-CFA4-D245-F4F81B4B0C44}"/>
              </a:ext>
            </a:extLst>
          </p:cNvPr>
          <p:cNvSpPr/>
          <p:nvPr/>
        </p:nvSpPr>
        <p:spPr>
          <a:xfrm>
            <a:off x="8040538" y="1920240"/>
            <a:ext cx="3520440" cy="3017520"/>
          </a:xfrm>
          <a:prstGeom prst="roundRect">
            <a:avLst>
              <a:gd name="adj" fmla="val 1818"/>
            </a:avLst>
          </a:prstGeom>
          <a:solidFill>
            <a:srgbClr val="F2F2F2"/>
          </a:solidFill>
          <a:ln/>
        </p:spPr>
        <p:txBody>
          <a:bodyPr/>
          <a:lstStyle/>
          <a:p>
            <a:endParaRPr lang="en-US" dirty="0"/>
          </a:p>
        </p:txBody>
      </p:sp>
      <p:sp>
        <p:nvSpPr>
          <p:cNvPr id="22" name="Text 2">
            <a:extLst>
              <a:ext uri="{FF2B5EF4-FFF2-40B4-BE49-F238E27FC236}">
                <a16:creationId xmlns:a16="http://schemas.microsoft.com/office/drawing/2014/main" id="{7AA14809-88C9-7D41-4EA5-573EE00EE218}"/>
              </a:ext>
            </a:extLst>
          </p:cNvPr>
          <p:cNvSpPr/>
          <p:nvPr/>
        </p:nvSpPr>
        <p:spPr>
          <a:xfrm>
            <a:off x="8269138" y="2392967"/>
            <a:ext cx="3063240" cy="1357884"/>
          </a:xfrm>
          <a:prstGeom prst="rect">
            <a:avLst/>
          </a:prstGeom>
          <a:noFill/>
          <a:ln/>
        </p:spPr>
        <p:txBody>
          <a:bodyPr wrap="square" rtlCol="0" anchor="ctr"/>
          <a:lstStyle/>
          <a:p>
            <a:pPr marL="0" indent="0" algn="ctr">
              <a:buNone/>
            </a:pPr>
            <a:r>
              <a:rPr lang="en-US" sz="4000" b="1" dirty="0">
                <a:solidFill>
                  <a:srgbClr val="163454"/>
                </a:solidFill>
                <a:latin typeface="Calibri" pitchFamily="34" charset="0"/>
                <a:ea typeface="Calibri" pitchFamily="34" charset="-122"/>
                <a:cs typeface="Calibri" pitchFamily="34" charset="-120"/>
              </a:rPr>
              <a:t>45</a:t>
            </a:r>
            <a:endParaRPr lang="en-US" sz="4000" dirty="0"/>
          </a:p>
        </p:txBody>
      </p:sp>
      <p:sp>
        <p:nvSpPr>
          <p:cNvPr id="24" name="Text 3">
            <a:extLst>
              <a:ext uri="{FF2B5EF4-FFF2-40B4-BE49-F238E27FC236}">
                <a16:creationId xmlns:a16="http://schemas.microsoft.com/office/drawing/2014/main" id="{D712B2AD-B888-6E20-22D2-C04DDA22084E}"/>
              </a:ext>
            </a:extLst>
          </p:cNvPr>
          <p:cNvSpPr/>
          <p:nvPr/>
        </p:nvSpPr>
        <p:spPr>
          <a:xfrm>
            <a:off x="8305800" y="3273769"/>
            <a:ext cx="3063240" cy="1056132"/>
          </a:xfrm>
          <a:prstGeom prst="rect">
            <a:avLst/>
          </a:prstGeom>
          <a:noFill/>
          <a:ln/>
        </p:spPr>
        <p:txBody>
          <a:bodyPr wrap="square" rtlCol="0" anchor="ctr"/>
          <a:lstStyle/>
          <a:p>
            <a:pPr algn="ctr"/>
            <a:r>
              <a:rPr lang="en-US" sz="1300" dirty="0">
                <a:solidFill>
                  <a:srgbClr val="1A1A1A"/>
                </a:solidFill>
                <a:latin typeface="Calibri" pitchFamily="34" charset="0"/>
                <a:ea typeface="Calibri" pitchFamily="34" charset="-122"/>
                <a:cs typeface="Calibri" pitchFamily="34" charset="-120"/>
              </a:rPr>
              <a:t>distinct, useful indicators displayed for each paper</a:t>
            </a:r>
            <a:endParaRPr lang="en-US" sz="1300" dirty="0"/>
          </a:p>
        </p:txBody>
      </p:sp>
      <p:sp>
        <p:nvSpPr>
          <p:cNvPr id="28" name="Text 4">
            <a:extLst>
              <a:ext uri="{FF2B5EF4-FFF2-40B4-BE49-F238E27FC236}">
                <a16:creationId xmlns:a16="http://schemas.microsoft.com/office/drawing/2014/main" id="{845E6572-51F6-CEE1-6222-E177829A818D}"/>
              </a:ext>
            </a:extLst>
          </p:cNvPr>
          <p:cNvSpPr/>
          <p:nvPr/>
        </p:nvSpPr>
        <p:spPr>
          <a:xfrm>
            <a:off x="839638" y="2143442"/>
            <a:ext cx="7315200" cy="274320"/>
          </a:xfrm>
          <a:prstGeom prst="rect">
            <a:avLst/>
          </a:prstGeom>
          <a:noFill/>
          <a:ln/>
        </p:spPr>
        <p:txBody>
          <a:bodyPr wrap="square" rtlCol="0" anchor="ctr"/>
          <a:lstStyle/>
          <a:p>
            <a:pPr marL="0" indent="0">
              <a:buNone/>
            </a:pPr>
            <a:r>
              <a:rPr lang="en-US" sz="1250" b="1" kern="0" spc="100" dirty="0">
                <a:solidFill>
                  <a:srgbClr val="004370"/>
                </a:solidFill>
                <a:latin typeface="Calibri" pitchFamily="34" charset="0"/>
                <a:ea typeface="Calibri" pitchFamily="34" charset="-122"/>
                <a:cs typeface="Calibri" pitchFamily="34" charset="-120"/>
              </a:rPr>
              <a:t>MANUAL VALIDATION</a:t>
            </a:r>
            <a:endParaRPr lang="en-US" sz="1250" dirty="0"/>
          </a:p>
        </p:txBody>
      </p:sp>
      <p:sp>
        <p:nvSpPr>
          <p:cNvPr id="30" name="Shape 3">
            <a:extLst>
              <a:ext uri="{FF2B5EF4-FFF2-40B4-BE49-F238E27FC236}">
                <a16:creationId xmlns:a16="http://schemas.microsoft.com/office/drawing/2014/main" id="{F86305C8-8056-EF15-F16E-A07EA4281F07}"/>
              </a:ext>
            </a:extLst>
          </p:cNvPr>
          <p:cNvSpPr/>
          <p:nvPr/>
        </p:nvSpPr>
        <p:spPr>
          <a:xfrm>
            <a:off x="775630" y="2167621"/>
            <a:ext cx="64008" cy="201168"/>
          </a:xfrm>
          <a:prstGeom prst="rect">
            <a:avLst/>
          </a:prstGeom>
          <a:solidFill>
            <a:srgbClr val="169AF3"/>
          </a:solidFill>
          <a:ln/>
        </p:spPr>
        <p:txBody>
          <a:bodyPr/>
          <a:lstStyle/>
          <a:p>
            <a:endParaRPr lang="en-US"/>
          </a:p>
        </p:txBody>
      </p:sp>
      <p:sp>
        <p:nvSpPr>
          <p:cNvPr id="32" name="Shape 16">
            <a:extLst>
              <a:ext uri="{FF2B5EF4-FFF2-40B4-BE49-F238E27FC236}">
                <a16:creationId xmlns:a16="http://schemas.microsoft.com/office/drawing/2014/main" id="{3CFEEA5A-CFA7-F906-79B0-554574E9A696}"/>
              </a:ext>
            </a:extLst>
          </p:cNvPr>
          <p:cNvSpPr/>
          <p:nvPr/>
        </p:nvSpPr>
        <p:spPr>
          <a:xfrm>
            <a:off x="8232476" y="2167621"/>
            <a:ext cx="73324" cy="201168"/>
          </a:xfrm>
          <a:prstGeom prst="rect">
            <a:avLst/>
          </a:prstGeom>
          <a:solidFill>
            <a:srgbClr val="C98A1F"/>
          </a:solidFill>
          <a:ln/>
        </p:spPr>
        <p:txBody>
          <a:bodyPr/>
          <a:lstStyle/>
          <a:p>
            <a:endParaRPr lang="en-US"/>
          </a:p>
        </p:txBody>
      </p:sp>
      <p:sp>
        <p:nvSpPr>
          <p:cNvPr id="34" name="Shape 7">
            <a:extLst>
              <a:ext uri="{FF2B5EF4-FFF2-40B4-BE49-F238E27FC236}">
                <a16:creationId xmlns:a16="http://schemas.microsoft.com/office/drawing/2014/main" id="{EA624B5E-6626-74B6-8B9D-ABBED2DB7B6F}"/>
              </a:ext>
            </a:extLst>
          </p:cNvPr>
          <p:cNvSpPr/>
          <p:nvPr/>
        </p:nvSpPr>
        <p:spPr>
          <a:xfrm>
            <a:off x="4449591" y="2180018"/>
            <a:ext cx="64008" cy="201168"/>
          </a:xfrm>
          <a:prstGeom prst="rect">
            <a:avLst/>
          </a:prstGeom>
          <a:solidFill>
            <a:srgbClr val="8C2331"/>
          </a:solidFill>
          <a:ln/>
        </p:spPr>
        <p:txBody>
          <a:bodyPr/>
          <a:lstStyle/>
          <a:p>
            <a:endParaRPr lang="en-US"/>
          </a:p>
        </p:txBody>
      </p:sp>
      <p:sp>
        <p:nvSpPr>
          <p:cNvPr id="36" name="Text 4">
            <a:extLst>
              <a:ext uri="{FF2B5EF4-FFF2-40B4-BE49-F238E27FC236}">
                <a16:creationId xmlns:a16="http://schemas.microsoft.com/office/drawing/2014/main" id="{BF8E32D6-ACBE-6942-8252-2BFD4D7F9E41}"/>
              </a:ext>
            </a:extLst>
          </p:cNvPr>
          <p:cNvSpPr/>
          <p:nvPr/>
        </p:nvSpPr>
        <p:spPr>
          <a:xfrm>
            <a:off x="4513916" y="2143442"/>
            <a:ext cx="7315200" cy="274320"/>
          </a:xfrm>
          <a:prstGeom prst="rect">
            <a:avLst/>
          </a:prstGeom>
          <a:noFill/>
          <a:ln/>
        </p:spPr>
        <p:txBody>
          <a:bodyPr wrap="square" rtlCol="0" anchor="ctr"/>
          <a:lstStyle/>
          <a:p>
            <a:pPr marL="0" indent="0">
              <a:buNone/>
            </a:pPr>
            <a:r>
              <a:rPr lang="en-US" sz="1250" b="1" kern="0" spc="100" dirty="0">
                <a:solidFill>
                  <a:srgbClr val="004370"/>
                </a:solidFill>
                <a:latin typeface="Calibri" pitchFamily="34" charset="0"/>
                <a:ea typeface="Calibri" pitchFamily="34" charset="-122"/>
                <a:cs typeface="Calibri" pitchFamily="34" charset="-120"/>
              </a:rPr>
              <a:t>SOURCE</a:t>
            </a:r>
            <a:endParaRPr lang="en-US" sz="1250" dirty="0"/>
          </a:p>
        </p:txBody>
      </p:sp>
      <p:sp>
        <p:nvSpPr>
          <p:cNvPr id="38" name="Text 4">
            <a:extLst>
              <a:ext uri="{FF2B5EF4-FFF2-40B4-BE49-F238E27FC236}">
                <a16:creationId xmlns:a16="http://schemas.microsoft.com/office/drawing/2014/main" id="{8C2FC3AE-3D3D-37BA-76E4-95F9174E969F}"/>
              </a:ext>
            </a:extLst>
          </p:cNvPr>
          <p:cNvSpPr/>
          <p:nvPr/>
        </p:nvSpPr>
        <p:spPr>
          <a:xfrm>
            <a:off x="8352806" y="2143442"/>
            <a:ext cx="7315200" cy="274320"/>
          </a:xfrm>
          <a:prstGeom prst="rect">
            <a:avLst/>
          </a:prstGeom>
          <a:noFill/>
          <a:ln/>
        </p:spPr>
        <p:txBody>
          <a:bodyPr wrap="square" rtlCol="0" anchor="ctr"/>
          <a:lstStyle/>
          <a:p>
            <a:pPr marL="0" indent="0">
              <a:buNone/>
            </a:pPr>
            <a:r>
              <a:rPr lang="en-US" sz="1250" b="1" kern="0" spc="100" dirty="0">
                <a:solidFill>
                  <a:srgbClr val="004370"/>
                </a:solidFill>
                <a:latin typeface="Calibri" pitchFamily="34" charset="0"/>
                <a:ea typeface="Calibri" pitchFamily="34" charset="-122"/>
                <a:cs typeface="Calibri" pitchFamily="34" charset="-120"/>
              </a:rPr>
              <a:t>RICH DATA</a:t>
            </a:r>
            <a:endParaRPr lang="en-US" sz="1250" dirty="0"/>
          </a:p>
        </p:txBody>
      </p:sp>
      <p:sp>
        <p:nvSpPr>
          <p:cNvPr id="42" name="Text 2">
            <a:extLst>
              <a:ext uri="{FF2B5EF4-FFF2-40B4-BE49-F238E27FC236}">
                <a16:creationId xmlns:a16="http://schemas.microsoft.com/office/drawing/2014/main" id="{E7662C13-284C-C9B7-5723-07D8B84CED76}"/>
              </a:ext>
            </a:extLst>
          </p:cNvPr>
          <p:cNvSpPr/>
          <p:nvPr/>
        </p:nvSpPr>
        <p:spPr>
          <a:xfrm>
            <a:off x="4380062" y="2368789"/>
            <a:ext cx="3252302" cy="1357884"/>
          </a:xfrm>
          <a:prstGeom prst="rect">
            <a:avLst/>
          </a:prstGeom>
          <a:noFill/>
          <a:ln/>
        </p:spPr>
        <p:txBody>
          <a:bodyPr wrap="square" rtlCol="0" anchor="ctr"/>
          <a:lstStyle/>
          <a:p>
            <a:pPr marL="0" indent="0" algn="ctr">
              <a:buNone/>
            </a:pPr>
            <a:r>
              <a:rPr lang="en-US" sz="4000" b="1" dirty="0" err="1">
                <a:solidFill>
                  <a:srgbClr val="163454"/>
                </a:solidFill>
                <a:latin typeface="Calibri" pitchFamily="34" charset="0"/>
                <a:ea typeface="Calibri" pitchFamily="34" charset="-122"/>
                <a:cs typeface="Calibri" pitchFamily="34" charset="-120"/>
              </a:rPr>
              <a:t>OpenAlex</a:t>
            </a:r>
            <a:endParaRPr lang="en-US" sz="4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7">
    <p:bg>
      <p:bgPr>
        <a:solidFill>
          <a:srgbClr val="1389C6"/>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389C6"/>
          </a:solidFill>
          <a:ln/>
        </p:spPr>
        <p:txBody>
          <a:bodyPr/>
          <a:lstStyle/>
          <a:p>
            <a:endParaRPr lang="en-US"/>
          </a:p>
        </p:txBody>
      </p:sp>
      <p:sp>
        <p:nvSpPr>
          <p:cNvPr id="3" name="Text 1"/>
          <p:cNvSpPr/>
          <p:nvPr/>
        </p:nvSpPr>
        <p:spPr>
          <a:xfrm>
            <a:off x="685800" y="502920"/>
            <a:ext cx="10515600" cy="731520"/>
          </a:xfrm>
          <a:prstGeom prst="rect">
            <a:avLst/>
          </a:prstGeom>
          <a:noFill/>
          <a:ln/>
        </p:spPr>
        <p:txBody>
          <a:bodyPr wrap="square"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Status and Next Steps</a:t>
            </a:r>
            <a:endParaRPr lang="en-US" sz="3200" dirty="0"/>
          </a:p>
        </p:txBody>
      </p:sp>
      <p:sp>
        <p:nvSpPr>
          <p:cNvPr id="4" name="Shape 2"/>
          <p:cNvSpPr/>
          <p:nvPr/>
        </p:nvSpPr>
        <p:spPr>
          <a:xfrm>
            <a:off x="685800" y="1298276"/>
            <a:ext cx="3520440" cy="777240"/>
          </a:xfrm>
          <a:prstGeom prst="rect">
            <a:avLst/>
          </a:prstGeom>
          <a:solidFill>
            <a:srgbClr val="00B050"/>
          </a:solidFill>
          <a:ln/>
        </p:spPr>
        <p:txBody>
          <a:bodyPr/>
          <a:lstStyle/>
          <a:p>
            <a:endParaRPr lang="en-US"/>
          </a:p>
        </p:txBody>
      </p:sp>
      <p:sp>
        <p:nvSpPr>
          <p:cNvPr id="5" name="Text 3"/>
          <p:cNvSpPr/>
          <p:nvPr/>
        </p:nvSpPr>
        <p:spPr>
          <a:xfrm>
            <a:off x="822960" y="1298276"/>
            <a:ext cx="3246120" cy="77724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DELIVERED</a:t>
            </a:r>
            <a:endParaRPr lang="en-US" sz="1500" dirty="0"/>
          </a:p>
        </p:txBody>
      </p:sp>
      <p:sp>
        <p:nvSpPr>
          <p:cNvPr id="6" name="Shape 4"/>
          <p:cNvSpPr/>
          <p:nvPr/>
        </p:nvSpPr>
        <p:spPr>
          <a:xfrm>
            <a:off x="685800" y="2075516"/>
            <a:ext cx="3520440" cy="3703320"/>
          </a:xfrm>
          <a:prstGeom prst="rect">
            <a:avLst/>
          </a:prstGeom>
          <a:solidFill>
            <a:srgbClr val="FFFFFF">
              <a:alpha val="12000"/>
            </a:srgbClr>
          </a:solidFill>
          <a:ln/>
        </p:spPr>
        <p:txBody>
          <a:bodyPr/>
          <a:lstStyle/>
          <a:p>
            <a:endParaRPr lang="en-US"/>
          </a:p>
        </p:txBody>
      </p:sp>
      <p:sp>
        <p:nvSpPr>
          <p:cNvPr id="7" name="Text 5"/>
          <p:cNvSpPr/>
          <p:nvPr/>
        </p:nvSpPr>
        <p:spPr>
          <a:xfrm>
            <a:off x="886968" y="2304116"/>
            <a:ext cx="3118104" cy="3337560"/>
          </a:xfrm>
          <a:prstGeom prst="rect">
            <a:avLst/>
          </a:prstGeom>
          <a:noFill/>
          <a:ln/>
        </p:spPr>
        <p:txBody>
          <a:bodyPr wrap="square" rtlCol="0" anchor="t"/>
          <a:lstStyle/>
          <a:p>
            <a:pPr marL="228600" indent="-228600">
              <a:spcAft>
                <a:spcPts val="1600"/>
              </a:spcAft>
              <a:buSzPct val="100000"/>
              <a:buChar char="•"/>
            </a:pPr>
            <a:r>
              <a:rPr lang="en-US" sz="1400" dirty="0">
                <a:solidFill>
                  <a:srgbClr val="FFFFFF"/>
                </a:solidFill>
                <a:latin typeface="Calibri" pitchFamily="34" charset="0"/>
                <a:ea typeface="Calibri" pitchFamily="34" charset="-122"/>
                <a:cs typeface="Calibri" pitchFamily="34" charset="-120"/>
              </a:rPr>
              <a:t>TOTAL, FLOW, and SHARE, automated in place of manual tracking</a:t>
            </a:r>
            <a:endParaRPr lang="en-US" sz="1400" dirty="0"/>
          </a:p>
          <a:p>
            <a:pPr marL="228600" indent="-228600">
              <a:spcAft>
                <a:spcPts val="1600"/>
              </a:spcAft>
              <a:buSzPct val="100000"/>
              <a:buChar char="•"/>
            </a:pPr>
            <a:r>
              <a:rPr lang="en-US" sz="1400" dirty="0">
                <a:solidFill>
                  <a:srgbClr val="FFFFFF"/>
                </a:solidFill>
                <a:latin typeface="Calibri" pitchFamily="34" charset="0"/>
                <a:ea typeface="Calibri" pitchFamily="34" charset="-122"/>
                <a:cs typeface="Calibri" pitchFamily="34" charset="-120"/>
              </a:rPr>
              <a:t>Easy-to-use interface </a:t>
            </a:r>
          </a:p>
          <a:p>
            <a:pPr marL="228600" indent="-228600">
              <a:spcAft>
                <a:spcPts val="1600"/>
              </a:spcAft>
              <a:buSzPct val="100000"/>
              <a:buChar char="•"/>
            </a:pPr>
            <a:r>
              <a:rPr lang="en-US" sz="1400" dirty="0">
                <a:solidFill>
                  <a:srgbClr val="FFFFFF"/>
                </a:solidFill>
                <a:latin typeface="Calibri" pitchFamily="34" charset="0"/>
                <a:ea typeface="Calibri" pitchFamily="34" charset="-122"/>
                <a:cs typeface="Calibri" pitchFamily="34" charset="-120"/>
              </a:rPr>
              <a:t>Free tor run daily </a:t>
            </a:r>
          </a:p>
          <a:p>
            <a:pPr marL="228600" indent="-228600">
              <a:spcAft>
                <a:spcPts val="1600"/>
              </a:spcAft>
              <a:buSzPct val="100000"/>
              <a:buChar char="•"/>
            </a:pPr>
            <a:r>
              <a:rPr lang="en-US" sz="1400" dirty="0">
                <a:solidFill>
                  <a:srgbClr val="FFFFFF"/>
                </a:solidFill>
                <a:latin typeface="Calibri" pitchFamily="34" charset="0"/>
                <a:ea typeface="Calibri" pitchFamily="34" charset="-122"/>
                <a:cs typeface="Calibri" pitchFamily="34" charset="-120"/>
              </a:rPr>
              <a:t>Fast (5-10 minutes to run)</a:t>
            </a:r>
          </a:p>
          <a:p>
            <a:pPr marL="228600" indent="-228600">
              <a:spcAft>
                <a:spcPts val="1600"/>
              </a:spcAft>
              <a:buSzPct val="100000"/>
              <a:buChar char="•"/>
            </a:pPr>
            <a:r>
              <a:rPr lang="en-US" sz="1400" dirty="0">
                <a:solidFill>
                  <a:srgbClr val="FFFFFF"/>
                </a:solidFill>
                <a:latin typeface="Calibri" pitchFamily="34" charset="0"/>
                <a:ea typeface="Calibri" pitchFamily="34" charset="-122"/>
                <a:cs typeface="Calibri" pitchFamily="34" charset="-120"/>
              </a:rPr>
              <a:t>Clear trail of inclusion criteria</a:t>
            </a:r>
          </a:p>
          <a:p>
            <a:pPr marL="228600" indent="-228600">
              <a:spcAft>
                <a:spcPts val="1600"/>
              </a:spcAft>
              <a:buSzPct val="100000"/>
              <a:buChar char="•"/>
            </a:pPr>
            <a:r>
              <a:rPr lang="en-US" sz="1400" dirty="0">
                <a:solidFill>
                  <a:srgbClr val="FFFFFF"/>
                </a:solidFill>
                <a:latin typeface="Calibri" pitchFamily="34" charset="0"/>
                <a:ea typeface="Calibri" pitchFamily="34" charset="-122"/>
                <a:cs typeface="Calibri" pitchFamily="34" charset="-120"/>
              </a:rPr>
              <a:t>45 distinct, useful indicators displayed for each paper</a:t>
            </a:r>
          </a:p>
          <a:p>
            <a:pPr marL="228600" indent="-228600">
              <a:spcAft>
                <a:spcPts val="1600"/>
              </a:spcAft>
              <a:buSzPct val="100000"/>
              <a:buChar char="•"/>
            </a:pPr>
            <a:r>
              <a:rPr lang="en-US" sz="1400" dirty="0">
                <a:solidFill>
                  <a:srgbClr val="FFFFFF"/>
                </a:solidFill>
                <a:latin typeface="Calibri" pitchFamily="34" charset="0"/>
                <a:ea typeface="Calibri" pitchFamily="34" charset="-122"/>
                <a:cs typeface="Calibri" pitchFamily="34" charset="-120"/>
              </a:rPr>
              <a:t>Automatic analysis</a:t>
            </a:r>
          </a:p>
          <a:p>
            <a:pPr marL="228600" indent="-228600">
              <a:spcAft>
                <a:spcPts val="1600"/>
              </a:spcAft>
              <a:buSzPct val="100000"/>
              <a:buChar char="•"/>
            </a:pPr>
            <a:endParaRPr lang="en-US" sz="1400" dirty="0"/>
          </a:p>
        </p:txBody>
      </p:sp>
      <p:sp>
        <p:nvSpPr>
          <p:cNvPr id="8" name="Shape 6"/>
          <p:cNvSpPr/>
          <p:nvPr/>
        </p:nvSpPr>
        <p:spPr>
          <a:xfrm>
            <a:off x="4389120" y="1298276"/>
            <a:ext cx="3520440" cy="777240"/>
          </a:xfrm>
          <a:prstGeom prst="rect">
            <a:avLst/>
          </a:prstGeom>
          <a:solidFill>
            <a:schemeClr val="accent1">
              <a:lumMod val="60000"/>
              <a:lumOff val="40000"/>
            </a:schemeClr>
          </a:solidFill>
          <a:ln/>
        </p:spPr>
        <p:txBody>
          <a:bodyPr/>
          <a:lstStyle/>
          <a:p>
            <a:endParaRPr lang="en-US"/>
          </a:p>
        </p:txBody>
      </p:sp>
      <p:sp>
        <p:nvSpPr>
          <p:cNvPr id="9" name="Text 7"/>
          <p:cNvSpPr/>
          <p:nvPr/>
        </p:nvSpPr>
        <p:spPr>
          <a:xfrm>
            <a:off x="4526280" y="1298276"/>
            <a:ext cx="3246120" cy="77724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KNOWN LIMITATIONS</a:t>
            </a:r>
            <a:endParaRPr lang="en-US" sz="1500" dirty="0"/>
          </a:p>
        </p:txBody>
      </p:sp>
      <p:sp>
        <p:nvSpPr>
          <p:cNvPr id="10" name="Shape 8"/>
          <p:cNvSpPr/>
          <p:nvPr/>
        </p:nvSpPr>
        <p:spPr>
          <a:xfrm>
            <a:off x="4389120" y="2075516"/>
            <a:ext cx="3520440" cy="3703320"/>
          </a:xfrm>
          <a:prstGeom prst="rect">
            <a:avLst/>
          </a:prstGeom>
          <a:solidFill>
            <a:srgbClr val="FFFFFF">
              <a:alpha val="12000"/>
            </a:srgbClr>
          </a:solidFill>
          <a:ln/>
        </p:spPr>
        <p:txBody>
          <a:bodyPr/>
          <a:lstStyle/>
          <a:p>
            <a:endParaRPr lang="en-US"/>
          </a:p>
        </p:txBody>
      </p:sp>
      <p:sp>
        <p:nvSpPr>
          <p:cNvPr id="11" name="Text 9"/>
          <p:cNvSpPr/>
          <p:nvPr/>
        </p:nvSpPr>
        <p:spPr>
          <a:xfrm>
            <a:off x="4590288" y="2304116"/>
            <a:ext cx="3118104" cy="3337560"/>
          </a:xfrm>
          <a:prstGeom prst="rect">
            <a:avLst/>
          </a:prstGeom>
          <a:noFill/>
          <a:ln/>
        </p:spPr>
        <p:txBody>
          <a:bodyPr wrap="square" rtlCol="0" anchor="t"/>
          <a:lstStyle/>
          <a:p>
            <a:pPr marL="228600" indent="-228600">
              <a:spcAft>
                <a:spcPts val="1600"/>
              </a:spcAft>
              <a:buSzPct val="100000"/>
              <a:buChar char="•"/>
            </a:pPr>
            <a:r>
              <a:rPr lang="en-US" sz="1400" dirty="0">
                <a:solidFill>
                  <a:srgbClr val="FFFFFF"/>
                </a:solidFill>
                <a:latin typeface="Calibri" pitchFamily="34" charset="0"/>
                <a:ea typeface="Calibri" pitchFamily="34" charset="-122"/>
                <a:cs typeface="Calibri" pitchFamily="34" charset="-120"/>
              </a:rPr>
              <a:t>Reference-only matches, difficult to exclude precisely</a:t>
            </a:r>
            <a:endParaRPr lang="en-US" sz="1400" dirty="0"/>
          </a:p>
          <a:p>
            <a:pPr marL="228600" indent="-228600">
              <a:spcAft>
                <a:spcPts val="1600"/>
              </a:spcAft>
              <a:buSzPct val="100000"/>
              <a:buChar char="•"/>
            </a:pPr>
            <a:r>
              <a:rPr lang="en-US" sz="1400" dirty="0">
                <a:solidFill>
                  <a:srgbClr val="FFFFFF"/>
                </a:solidFill>
                <a:latin typeface="Calibri" pitchFamily="34" charset="0"/>
                <a:ea typeface="Calibri" pitchFamily="34" charset="-122"/>
                <a:cs typeface="Calibri" pitchFamily="34" charset="-120"/>
              </a:rPr>
              <a:t>Full-text source coverage is limited to Open-Source papers (</a:t>
            </a:r>
            <a:r>
              <a:rPr lang="en-US" sz="1400" b="1" dirty="0">
                <a:solidFill>
                  <a:srgbClr val="FFFFFF"/>
                </a:solidFill>
                <a:latin typeface="Calibri" pitchFamily="34" charset="0"/>
                <a:ea typeface="Calibri" pitchFamily="34" charset="-122"/>
                <a:cs typeface="Calibri" pitchFamily="34" charset="-120"/>
              </a:rPr>
              <a:t>90.2% </a:t>
            </a:r>
            <a:r>
              <a:rPr lang="en-US" sz="1400" dirty="0">
                <a:solidFill>
                  <a:srgbClr val="FFFFFF"/>
                </a:solidFill>
                <a:latin typeface="Calibri" pitchFamily="34" charset="0"/>
                <a:ea typeface="Calibri" pitchFamily="34" charset="-122"/>
                <a:cs typeface="Calibri" pitchFamily="34" charset="-120"/>
              </a:rPr>
              <a:t>Open Access 7029/7792, in Non-Relevant it’s even higher, 94%)</a:t>
            </a:r>
            <a:endParaRPr lang="en-US" sz="1400" dirty="0"/>
          </a:p>
        </p:txBody>
      </p:sp>
      <p:sp>
        <p:nvSpPr>
          <p:cNvPr id="12" name="Shape 10"/>
          <p:cNvSpPr/>
          <p:nvPr/>
        </p:nvSpPr>
        <p:spPr>
          <a:xfrm>
            <a:off x="8092440" y="1298276"/>
            <a:ext cx="3520440" cy="777240"/>
          </a:xfrm>
          <a:prstGeom prst="rect">
            <a:avLst/>
          </a:prstGeom>
          <a:solidFill>
            <a:schemeClr val="accent1">
              <a:lumMod val="75000"/>
            </a:schemeClr>
          </a:solidFill>
          <a:ln/>
        </p:spPr>
        <p:txBody>
          <a:bodyPr/>
          <a:lstStyle/>
          <a:p>
            <a:endParaRPr lang="en-US"/>
          </a:p>
        </p:txBody>
      </p:sp>
      <p:sp>
        <p:nvSpPr>
          <p:cNvPr id="13" name="Text 11"/>
          <p:cNvSpPr/>
          <p:nvPr/>
        </p:nvSpPr>
        <p:spPr>
          <a:xfrm>
            <a:off x="8229600" y="1298276"/>
            <a:ext cx="3246120" cy="77724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FUTURE POTENTIAL</a:t>
            </a:r>
            <a:endParaRPr lang="en-US" sz="1500" dirty="0"/>
          </a:p>
        </p:txBody>
      </p:sp>
      <p:sp>
        <p:nvSpPr>
          <p:cNvPr id="14" name="Shape 12"/>
          <p:cNvSpPr/>
          <p:nvPr/>
        </p:nvSpPr>
        <p:spPr>
          <a:xfrm>
            <a:off x="8092440" y="2121236"/>
            <a:ext cx="3520440" cy="3703320"/>
          </a:xfrm>
          <a:prstGeom prst="rect">
            <a:avLst/>
          </a:prstGeom>
          <a:solidFill>
            <a:srgbClr val="FFFFFF">
              <a:alpha val="12000"/>
            </a:srgbClr>
          </a:solidFill>
          <a:ln/>
        </p:spPr>
        <p:txBody>
          <a:bodyPr/>
          <a:lstStyle/>
          <a:p>
            <a:endParaRPr lang="en-US"/>
          </a:p>
        </p:txBody>
      </p:sp>
      <p:sp>
        <p:nvSpPr>
          <p:cNvPr id="15" name="Text 13"/>
          <p:cNvSpPr/>
          <p:nvPr/>
        </p:nvSpPr>
        <p:spPr>
          <a:xfrm>
            <a:off x="8293608" y="2304116"/>
            <a:ext cx="3118104" cy="3337560"/>
          </a:xfrm>
          <a:prstGeom prst="rect">
            <a:avLst/>
          </a:prstGeom>
          <a:noFill/>
          <a:ln/>
        </p:spPr>
        <p:txBody>
          <a:bodyPr wrap="square" rtlCol="0" anchor="t"/>
          <a:lstStyle/>
          <a:p>
            <a:pPr marL="228600" indent="-228600">
              <a:spcAft>
                <a:spcPts val="1600"/>
              </a:spcAft>
              <a:buSzPct val="100000"/>
              <a:buChar char="•"/>
            </a:pPr>
            <a:r>
              <a:rPr lang="en-US" sz="1400" dirty="0">
                <a:solidFill>
                  <a:srgbClr val="FFFFFF"/>
                </a:solidFill>
                <a:latin typeface="Calibri" pitchFamily="34" charset="0"/>
                <a:ea typeface="Calibri" pitchFamily="34" charset="-122"/>
                <a:cs typeface="Calibri" pitchFamily="34" charset="-120"/>
              </a:rPr>
              <a:t>Automatic weekly updating website with dashboard</a:t>
            </a:r>
          </a:p>
          <a:p>
            <a:pPr marL="228600" indent="-228600">
              <a:spcAft>
                <a:spcPts val="1600"/>
              </a:spcAft>
              <a:buSzPct val="100000"/>
              <a:buChar char="•"/>
            </a:pPr>
            <a:r>
              <a:rPr lang="en-US" sz="1400" dirty="0">
                <a:solidFill>
                  <a:srgbClr val="FFFFFF"/>
                </a:solidFill>
                <a:latin typeface="Calibri" pitchFamily="34" charset="0"/>
                <a:ea typeface="Calibri" pitchFamily="34" charset="-122"/>
                <a:cs typeface="Calibri" pitchFamily="34" charset="-120"/>
              </a:rPr>
              <a:t>Further data analysis and graphs based on the 45 indicators</a:t>
            </a:r>
          </a:p>
          <a:p>
            <a:pPr marL="228600" indent="-228600">
              <a:spcAft>
                <a:spcPts val="1600"/>
              </a:spcAft>
              <a:buSzPct val="100000"/>
              <a:buChar char="•"/>
            </a:pPr>
            <a:r>
              <a:rPr lang="en-US" sz="1400" dirty="0">
                <a:solidFill>
                  <a:srgbClr val="FFFFFF"/>
                </a:solidFill>
                <a:latin typeface="Calibri" pitchFamily="34" charset="0"/>
                <a:ea typeface="Calibri" pitchFamily="34" charset="-122"/>
                <a:cs typeface="Calibri" pitchFamily="34" charset="-120"/>
              </a:rPr>
              <a:t>Increased precision of inclusion-exclusion criteria using LLMs to help decide the corner cases</a:t>
            </a:r>
          </a:p>
        </p:txBody>
      </p:sp>
      <p:pic>
        <p:nvPicPr>
          <p:cNvPr id="16" name="Image 0" descr="/home/claude/pptx_project/lsms_brand/badge_worldbank.png"/>
          <p:cNvPicPr>
            <a:picLocks noChangeAspect="1"/>
          </p:cNvPicPr>
          <p:nvPr/>
        </p:nvPicPr>
        <p:blipFill>
          <a:blip r:embed="rId3"/>
          <a:stretch>
            <a:fillRect/>
          </a:stretch>
        </p:blipFill>
        <p:spPr>
          <a:xfrm>
            <a:off x="685800" y="6026448"/>
            <a:ext cx="1828800" cy="420072"/>
          </a:xfrm>
          <a:prstGeom prst="rect">
            <a:avLst/>
          </a:prstGeom>
        </p:spPr>
      </p:pic>
      <p:pic>
        <p:nvPicPr>
          <p:cNvPr id="17" name="Image 1" descr="/home/claude/pptx_project/lsms_brand/badge_lsms.png"/>
          <p:cNvPicPr>
            <a:picLocks noChangeAspect="1"/>
          </p:cNvPicPr>
          <p:nvPr/>
        </p:nvPicPr>
        <p:blipFill>
          <a:blip r:embed="rId4"/>
          <a:stretch>
            <a:fillRect/>
          </a:stretch>
        </p:blipFill>
        <p:spPr>
          <a:xfrm>
            <a:off x="2651760" y="6023283"/>
            <a:ext cx="1645920" cy="423237"/>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7D18F4-18B8-D38D-B0FD-74B4FC019D7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2309A07-4D8A-933A-F8EA-4D5DD1BF5CB5}"/>
              </a:ext>
            </a:extLst>
          </p:cNvPr>
          <p:cNvSpPr/>
          <p:nvPr/>
        </p:nvSpPr>
        <p:spPr>
          <a:xfrm>
            <a:off x="0" y="0"/>
            <a:ext cx="12191695" cy="6858000"/>
          </a:xfrm>
          <a:prstGeom prst="rect">
            <a:avLst/>
          </a:prstGeom>
          <a:solidFill>
            <a:srgbClr val="1389C6"/>
          </a:solidFill>
          <a:ln/>
        </p:spPr>
        <p:txBody>
          <a:bodyPr/>
          <a:lstStyle/>
          <a:p>
            <a:endParaRPr lang="en-US" dirty="0"/>
          </a:p>
        </p:txBody>
      </p:sp>
      <p:sp>
        <p:nvSpPr>
          <p:cNvPr id="3" name="Text 1">
            <a:extLst>
              <a:ext uri="{FF2B5EF4-FFF2-40B4-BE49-F238E27FC236}">
                <a16:creationId xmlns:a16="http://schemas.microsoft.com/office/drawing/2014/main" id="{CFB53AAF-B187-5E99-7D16-B0EE71F4F427}"/>
              </a:ext>
            </a:extLst>
          </p:cNvPr>
          <p:cNvSpPr/>
          <p:nvPr/>
        </p:nvSpPr>
        <p:spPr>
          <a:xfrm>
            <a:off x="685800" y="502920"/>
            <a:ext cx="10890850" cy="731520"/>
          </a:xfrm>
          <a:prstGeom prst="rect">
            <a:avLst/>
          </a:prstGeom>
          <a:noFill/>
          <a:ln/>
        </p:spPr>
        <p:txBody>
          <a:bodyPr wrap="square"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Other projects (1): LSMS Microdata Library Analysis</a:t>
            </a:r>
          </a:p>
        </p:txBody>
      </p:sp>
      <p:pic>
        <p:nvPicPr>
          <p:cNvPr id="16" name="Image 0" descr="/home/claude/pptx_project/lsms_brand/badge_worldbank.png">
            <a:extLst>
              <a:ext uri="{FF2B5EF4-FFF2-40B4-BE49-F238E27FC236}">
                <a16:creationId xmlns:a16="http://schemas.microsoft.com/office/drawing/2014/main" id="{AD58F0E2-652D-16FB-A8B8-D98E982407EA}"/>
              </a:ext>
            </a:extLst>
          </p:cNvPr>
          <p:cNvPicPr>
            <a:picLocks noChangeAspect="1"/>
          </p:cNvPicPr>
          <p:nvPr/>
        </p:nvPicPr>
        <p:blipFill>
          <a:blip r:embed="rId3"/>
          <a:stretch>
            <a:fillRect/>
          </a:stretch>
        </p:blipFill>
        <p:spPr>
          <a:xfrm>
            <a:off x="685800" y="6026448"/>
            <a:ext cx="1828800" cy="420072"/>
          </a:xfrm>
          <a:prstGeom prst="rect">
            <a:avLst/>
          </a:prstGeom>
        </p:spPr>
      </p:pic>
      <p:pic>
        <p:nvPicPr>
          <p:cNvPr id="17" name="Image 1" descr="/home/claude/pptx_project/lsms_brand/badge_lsms.png">
            <a:extLst>
              <a:ext uri="{FF2B5EF4-FFF2-40B4-BE49-F238E27FC236}">
                <a16:creationId xmlns:a16="http://schemas.microsoft.com/office/drawing/2014/main" id="{C1AB0155-F552-4B33-3CD3-539C2F65D529}"/>
              </a:ext>
            </a:extLst>
          </p:cNvPr>
          <p:cNvPicPr>
            <a:picLocks noChangeAspect="1"/>
          </p:cNvPicPr>
          <p:nvPr/>
        </p:nvPicPr>
        <p:blipFill>
          <a:blip r:embed="rId4"/>
          <a:stretch>
            <a:fillRect/>
          </a:stretch>
        </p:blipFill>
        <p:spPr>
          <a:xfrm>
            <a:off x="2651760" y="6023283"/>
            <a:ext cx="1645920" cy="423237"/>
          </a:xfrm>
          <a:prstGeom prst="rect">
            <a:avLst/>
          </a:prstGeom>
        </p:spPr>
      </p:pic>
      <p:pic>
        <p:nvPicPr>
          <p:cNvPr id="35" name="Picture 34">
            <a:extLst>
              <a:ext uri="{FF2B5EF4-FFF2-40B4-BE49-F238E27FC236}">
                <a16:creationId xmlns:a16="http://schemas.microsoft.com/office/drawing/2014/main" id="{47C5A2E7-3541-0FE2-55ED-53AE623F4AFD}"/>
              </a:ext>
            </a:extLst>
          </p:cNvPr>
          <p:cNvPicPr>
            <a:picLocks noChangeAspect="1"/>
          </p:cNvPicPr>
          <p:nvPr/>
        </p:nvPicPr>
        <p:blipFill>
          <a:blip r:embed="rId5"/>
          <a:stretch>
            <a:fillRect/>
          </a:stretch>
        </p:blipFill>
        <p:spPr>
          <a:xfrm>
            <a:off x="761310" y="1635888"/>
            <a:ext cx="10669074" cy="3975915"/>
          </a:xfrm>
          <a:prstGeom prst="rect">
            <a:avLst/>
          </a:prstGeom>
        </p:spPr>
      </p:pic>
      <p:sp>
        <p:nvSpPr>
          <p:cNvPr id="39" name="TextBox 38">
            <a:extLst>
              <a:ext uri="{FF2B5EF4-FFF2-40B4-BE49-F238E27FC236}">
                <a16:creationId xmlns:a16="http://schemas.microsoft.com/office/drawing/2014/main" id="{5D4EC968-36BF-4D7E-E12C-D7822EB4DE5F}"/>
              </a:ext>
            </a:extLst>
          </p:cNvPr>
          <p:cNvSpPr txBox="1"/>
          <p:nvPr/>
        </p:nvSpPr>
        <p:spPr>
          <a:xfrm>
            <a:off x="727207" y="1073581"/>
            <a:ext cx="7157336" cy="369332"/>
          </a:xfrm>
          <a:prstGeom prst="rect">
            <a:avLst/>
          </a:prstGeom>
          <a:noFill/>
        </p:spPr>
        <p:txBody>
          <a:bodyPr wrap="square">
            <a:spAutoFit/>
          </a:bodyPr>
          <a:lstStyle/>
          <a:p>
            <a:r>
              <a:rPr lang="en-US" sz="1800" b="1" dirty="0">
                <a:solidFill>
                  <a:srgbClr val="FFFFFF"/>
                </a:solidFill>
                <a:latin typeface="Calibri" pitchFamily="34" charset="0"/>
                <a:ea typeface="Calibri" pitchFamily="34" charset="-122"/>
                <a:cs typeface="Calibri" pitchFamily="34" charset="-120"/>
              </a:rPr>
              <a:t>(Data Download Aggregates by Survey Country and Type of Product)</a:t>
            </a:r>
            <a:endParaRPr lang="en-US" sz="1800" dirty="0"/>
          </a:p>
        </p:txBody>
      </p:sp>
    </p:spTree>
    <p:extLst>
      <p:ext uri="{BB962C8B-B14F-4D97-AF65-F5344CB8AC3E}">
        <p14:creationId xmlns:p14="http://schemas.microsoft.com/office/powerpoint/2010/main" val="40297977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D0AEB8-9F34-BF61-2D74-9B425260261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727D05C-2EF1-0C54-50BF-32375714025F}"/>
              </a:ext>
            </a:extLst>
          </p:cNvPr>
          <p:cNvSpPr/>
          <p:nvPr/>
        </p:nvSpPr>
        <p:spPr>
          <a:xfrm>
            <a:off x="0" y="0"/>
            <a:ext cx="12191695" cy="6858000"/>
          </a:xfrm>
          <a:prstGeom prst="rect">
            <a:avLst/>
          </a:prstGeom>
          <a:solidFill>
            <a:srgbClr val="1389C6"/>
          </a:solidFill>
          <a:ln/>
        </p:spPr>
        <p:txBody>
          <a:bodyPr/>
          <a:lstStyle/>
          <a:p>
            <a:endParaRPr lang="en-US"/>
          </a:p>
        </p:txBody>
      </p:sp>
      <p:sp>
        <p:nvSpPr>
          <p:cNvPr id="3" name="Text 1">
            <a:extLst>
              <a:ext uri="{FF2B5EF4-FFF2-40B4-BE49-F238E27FC236}">
                <a16:creationId xmlns:a16="http://schemas.microsoft.com/office/drawing/2014/main" id="{3F5A19A7-6998-6799-030A-56C60B10BF7C}"/>
              </a:ext>
            </a:extLst>
          </p:cNvPr>
          <p:cNvSpPr/>
          <p:nvPr/>
        </p:nvSpPr>
        <p:spPr>
          <a:xfrm>
            <a:off x="685800" y="502920"/>
            <a:ext cx="10515600" cy="731520"/>
          </a:xfrm>
          <a:prstGeom prst="rect">
            <a:avLst/>
          </a:prstGeom>
          <a:noFill/>
          <a:ln/>
        </p:spPr>
        <p:txBody>
          <a:bodyPr wrap="square"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Other projects (2): Privacy Portal Data</a:t>
            </a:r>
            <a:endParaRPr lang="en-US" sz="3200" dirty="0"/>
          </a:p>
        </p:txBody>
      </p:sp>
      <p:pic>
        <p:nvPicPr>
          <p:cNvPr id="16" name="Image 0" descr="/home/claude/pptx_project/lsms_brand/badge_worldbank.png">
            <a:extLst>
              <a:ext uri="{FF2B5EF4-FFF2-40B4-BE49-F238E27FC236}">
                <a16:creationId xmlns:a16="http://schemas.microsoft.com/office/drawing/2014/main" id="{8AAD45A0-E8EF-8FE6-A3EC-47233A7C820B}"/>
              </a:ext>
            </a:extLst>
          </p:cNvPr>
          <p:cNvPicPr>
            <a:picLocks noChangeAspect="1"/>
          </p:cNvPicPr>
          <p:nvPr/>
        </p:nvPicPr>
        <p:blipFill>
          <a:blip r:embed="rId3"/>
          <a:stretch>
            <a:fillRect/>
          </a:stretch>
        </p:blipFill>
        <p:spPr>
          <a:xfrm>
            <a:off x="685800" y="6026448"/>
            <a:ext cx="1828800" cy="420072"/>
          </a:xfrm>
          <a:prstGeom prst="rect">
            <a:avLst/>
          </a:prstGeom>
        </p:spPr>
      </p:pic>
      <p:pic>
        <p:nvPicPr>
          <p:cNvPr id="17" name="Image 1" descr="/home/claude/pptx_project/lsms_brand/badge_lsms.png">
            <a:extLst>
              <a:ext uri="{FF2B5EF4-FFF2-40B4-BE49-F238E27FC236}">
                <a16:creationId xmlns:a16="http://schemas.microsoft.com/office/drawing/2014/main" id="{76F6C10B-E6B4-4485-1B31-3305AB12559D}"/>
              </a:ext>
            </a:extLst>
          </p:cNvPr>
          <p:cNvPicPr>
            <a:picLocks noChangeAspect="1"/>
          </p:cNvPicPr>
          <p:nvPr/>
        </p:nvPicPr>
        <p:blipFill>
          <a:blip r:embed="rId4"/>
          <a:stretch>
            <a:fillRect/>
          </a:stretch>
        </p:blipFill>
        <p:spPr>
          <a:xfrm>
            <a:off x="2651760" y="6023283"/>
            <a:ext cx="1645920" cy="423237"/>
          </a:xfrm>
          <a:prstGeom prst="rect">
            <a:avLst/>
          </a:prstGeom>
        </p:spPr>
      </p:pic>
      <p:pic>
        <p:nvPicPr>
          <p:cNvPr id="21" name="Picture 20">
            <a:extLst>
              <a:ext uri="{FF2B5EF4-FFF2-40B4-BE49-F238E27FC236}">
                <a16:creationId xmlns:a16="http://schemas.microsoft.com/office/drawing/2014/main" id="{7D2D40AB-0F97-3823-0D71-3EBC881F1DDC}"/>
              </a:ext>
            </a:extLst>
          </p:cNvPr>
          <p:cNvPicPr>
            <a:picLocks noChangeAspect="1"/>
          </p:cNvPicPr>
          <p:nvPr/>
        </p:nvPicPr>
        <p:blipFill>
          <a:blip r:embed="rId5"/>
          <a:srcRect r="1662"/>
          <a:stretch>
            <a:fillRect/>
          </a:stretch>
        </p:blipFill>
        <p:spPr>
          <a:xfrm>
            <a:off x="8767939" y="1237100"/>
            <a:ext cx="3215477" cy="1695919"/>
          </a:xfrm>
          <a:prstGeom prst="rect">
            <a:avLst/>
          </a:prstGeom>
        </p:spPr>
      </p:pic>
      <p:pic>
        <p:nvPicPr>
          <p:cNvPr id="23" name="Picture 22">
            <a:extLst>
              <a:ext uri="{FF2B5EF4-FFF2-40B4-BE49-F238E27FC236}">
                <a16:creationId xmlns:a16="http://schemas.microsoft.com/office/drawing/2014/main" id="{77CA18E0-5218-D640-3F3E-70BAB7C7BA63}"/>
              </a:ext>
            </a:extLst>
          </p:cNvPr>
          <p:cNvPicPr>
            <a:picLocks noChangeAspect="1"/>
          </p:cNvPicPr>
          <p:nvPr/>
        </p:nvPicPr>
        <p:blipFill>
          <a:blip r:embed="rId6"/>
          <a:stretch>
            <a:fillRect/>
          </a:stretch>
        </p:blipFill>
        <p:spPr>
          <a:xfrm>
            <a:off x="202934" y="1227891"/>
            <a:ext cx="5162909" cy="3304633"/>
          </a:xfrm>
          <a:prstGeom prst="rect">
            <a:avLst/>
          </a:prstGeom>
        </p:spPr>
      </p:pic>
      <p:pic>
        <p:nvPicPr>
          <p:cNvPr id="27" name="Picture 26">
            <a:extLst>
              <a:ext uri="{FF2B5EF4-FFF2-40B4-BE49-F238E27FC236}">
                <a16:creationId xmlns:a16="http://schemas.microsoft.com/office/drawing/2014/main" id="{DA7AC0EB-11CF-9C64-7298-1A1F468FAD0A}"/>
              </a:ext>
            </a:extLst>
          </p:cNvPr>
          <p:cNvPicPr>
            <a:picLocks noChangeAspect="1"/>
          </p:cNvPicPr>
          <p:nvPr/>
        </p:nvPicPr>
        <p:blipFill>
          <a:blip r:embed="rId7"/>
          <a:stretch>
            <a:fillRect/>
          </a:stretch>
        </p:blipFill>
        <p:spPr>
          <a:xfrm>
            <a:off x="5502144" y="4838847"/>
            <a:ext cx="3129497" cy="1695919"/>
          </a:xfrm>
          <a:prstGeom prst="rect">
            <a:avLst/>
          </a:prstGeom>
        </p:spPr>
      </p:pic>
      <p:pic>
        <p:nvPicPr>
          <p:cNvPr id="29" name="Picture 28">
            <a:extLst>
              <a:ext uri="{FF2B5EF4-FFF2-40B4-BE49-F238E27FC236}">
                <a16:creationId xmlns:a16="http://schemas.microsoft.com/office/drawing/2014/main" id="{5667CA2A-07D9-3060-23CD-158901A1EEAB}"/>
              </a:ext>
            </a:extLst>
          </p:cNvPr>
          <p:cNvPicPr>
            <a:picLocks noChangeAspect="1"/>
          </p:cNvPicPr>
          <p:nvPr/>
        </p:nvPicPr>
        <p:blipFill>
          <a:blip r:embed="rId8"/>
          <a:stretch>
            <a:fillRect/>
          </a:stretch>
        </p:blipFill>
        <p:spPr>
          <a:xfrm>
            <a:off x="5502144" y="1237100"/>
            <a:ext cx="3129497" cy="1862304"/>
          </a:xfrm>
          <a:prstGeom prst="rect">
            <a:avLst/>
          </a:prstGeom>
        </p:spPr>
      </p:pic>
      <p:pic>
        <p:nvPicPr>
          <p:cNvPr id="31" name="Picture 30">
            <a:extLst>
              <a:ext uri="{FF2B5EF4-FFF2-40B4-BE49-F238E27FC236}">
                <a16:creationId xmlns:a16="http://schemas.microsoft.com/office/drawing/2014/main" id="{2306E69C-7D95-F2D9-D75C-014EC2F653FD}"/>
              </a:ext>
            </a:extLst>
          </p:cNvPr>
          <p:cNvPicPr>
            <a:picLocks noChangeAspect="1"/>
          </p:cNvPicPr>
          <p:nvPr/>
        </p:nvPicPr>
        <p:blipFill>
          <a:blip r:embed="rId9"/>
          <a:stretch>
            <a:fillRect/>
          </a:stretch>
        </p:blipFill>
        <p:spPr>
          <a:xfrm>
            <a:off x="8767938" y="3060166"/>
            <a:ext cx="3215477" cy="3474600"/>
          </a:xfrm>
          <a:prstGeom prst="rect">
            <a:avLst/>
          </a:prstGeom>
        </p:spPr>
      </p:pic>
      <p:pic>
        <p:nvPicPr>
          <p:cNvPr id="33" name="Picture 32">
            <a:extLst>
              <a:ext uri="{FF2B5EF4-FFF2-40B4-BE49-F238E27FC236}">
                <a16:creationId xmlns:a16="http://schemas.microsoft.com/office/drawing/2014/main" id="{AC8D6985-8B29-8D55-D8B3-56139C2A8464}"/>
              </a:ext>
            </a:extLst>
          </p:cNvPr>
          <p:cNvPicPr>
            <a:picLocks noChangeAspect="1"/>
          </p:cNvPicPr>
          <p:nvPr/>
        </p:nvPicPr>
        <p:blipFill>
          <a:blip r:embed="rId10"/>
          <a:srcRect b="20888"/>
          <a:stretch>
            <a:fillRect/>
          </a:stretch>
        </p:blipFill>
        <p:spPr>
          <a:xfrm>
            <a:off x="5502143" y="3226551"/>
            <a:ext cx="3129497" cy="1485149"/>
          </a:xfrm>
          <a:prstGeom prst="rect">
            <a:avLst/>
          </a:prstGeom>
        </p:spPr>
      </p:pic>
    </p:spTree>
    <p:extLst>
      <p:ext uri="{BB962C8B-B14F-4D97-AF65-F5344CB8AC3E}">
        <p14:creationId xmlns:p14="http://schemas.microsoft.com/office/powerpoint/2010/main" val="17316495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AB7CC2-1B0C-4617-74D6-24D7CE1EFE3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13D2D5F-81AB-D492-7627-81B58F407980}"/>
              </a:ext>
            </a:extLst>
          </p:cNvPr>
          <p:cNvSpPr/>
          <p:nvPr/>
        </p:nvSpPr>
        <p:spPr>
          <a:xfrm>
            <a:off x="305" y="0"/>
            <a:ext cx="12191695" cy="6858000"/>
          </a:xfrm>
          <a:prstGeom prst="rect">
            <a:avLst/>
          </a:prstGeom>
          <a:solidFill>
            <a:srgbClr val="1389C6"/>
          </a:solidFill>
          <a:ln/>
        </p:spPr>
        <p:txBody>
          <a:bodyPr/>
          <a:lstStyle/>
          <a:p>
            <a:endParaRPr lang="en-US"/>
          </a:p>
        </p:txBody>
      </p:sp>
      <p:sp>
        <p:nvSpPr>
          <p:cNvPr id="3" name="Text 1">
            <a:extLst>
              <a:ext uri="{FF2B5EF4-FFF2-40B4-BE49-F238E27FC236}">
                <a16:creationId xmlns:a16="http://schemas.microsoft.com/office/drawing/2014/main" id="{7E691B07-B75B-1389-F0BF-DAACF8F540BD}"/>
              </a:ext>
            </a:extLst>
          </p:cNvPr>
          <p:cNvSpPr/>
          <p:nvPr/>
        </p:nvSpPr>
        <p:spPr>
          <a:xfrm>
            <a:off x="763438" y="347652"/>
            <a:ext cx="10515600" cy="731520"/>
          </a:xfrm>
          <a:prstGeom prst="rect">
            <a:avLst/>
          </a:prstGeom>
          <a:noFill/>
          <a:ln/>
        </p:spPr>
        <p:txBody>
          <a:bodyPr wrap="square"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Thank you!</a:t>
            </a:r>
            <a:endParaRPr lang="en-US" sz="3200" dirty="0"/>
          </a:p>
        </p:txBody>
      </p:sp>
      <p:pic>
        <p:nvPicPr>
          <p:cNvPr id="16" name="Image 0" descr="/home/claude/pptx_project/lsms_brand/badge_worldbank.png">
            <a:extLst>
              <a:ext uri="{FF2B5EF4-FFF2-40B4-BE49-F238E27FC236}">
                <a16:creationId xmlns:a16="http://schemas.microsoft.com/office/drawing/2014/main" id="{17356352-87B9-970F-90DA-74867688EE17}"/>
              </a:ext>
            </a:extLst>
          </p:cNvPr>
          <p:cNvPicPr>
            <a:picLocks noChangeAspect="1"/>
          </p:cNvPicPr>
          <p:nvPr/>
        </p:nvPicPr>
        <p:blipFill>
          <a:blip r:embed="rId3"/>
          <a:stretch>
            <a:fillRect/>
          </a:stretch>
        </p:blipFill>
        <p:spPr>
          <a:xfrm>
            <a:off x="685800" y="6026448"/>
            <a:ext cx="1828800" cy="420072"/>
          </a:xfrm>
          <a:prstGeom prst="rect">
            <a:avLst/>
          </a:prstGeom>
        </p:spPr>
      </p:pic>
      <p:pic>
        <p:nvPicPr>
          <p:cNvPr id="17" name="Image 1" descr="/home/claude/pptx_project/lsms_brand/badge_lsms.png">
            <a:extLst>
              <a:ext uri="{FF2B5EF4-FFF2-40B4-BE49-F238E27FC236}">
                <a16:creationId xmlns:a16="http://schemas.microsoft.com/office/drawing/2014/main" id="{83FFA6D9-945D-2ADA-5C17-DF331AFC944A}"/>
              </a:ext>
            </a:extLst>
          </p:cNvPr>
          <p:cNvPicPr>
            <a:picLocks noChangeAspect="1"/>
          </p:cNvPicPr>
          <p:nvPr/>
        </p:nvPicPr>
        <p:blipFill>
          <a:blip r:embed="rId4"/>
          <a:stretch>
            <a:fillRect/>
          </a:stretch>
        </p:blipFill>
        <p:spPr>
          <a:xfrm>
            <a:off x="2651760" y="6023283"/>
            <a:ext cx="1645920" cy="423237"/>
          </a:xfrm>
          <a:prstGeom prst="rect">
            <a:avLst/>
          </a:prstGeom>
        </p:spPr>
      </p:pic>
      <p:pic>
        <p:nvPicPr>
          <p:cNvPr id="5" name="Picture 4">
            <a:extLst>
              <a:ext uri="{FF2B5EF4-FFF2-40B4-BE49-F238E27FC236}">
                <a16:creationId xmlns:a16="http://schemas.microsoft.com/office/drawing/2014/main" id="{59939359-EC3E-9AB3-9328-31678461D1DE}"/>
              </a:ext>
            </a:extLst>
          </p:cNvPr>
          <p:cNvPicPr>
            <a:picLocks noChangeAspect="1"/>
          </p:cNvPicPr>
          <p:nvPr/>
        </p:nvPicPr>
        <p:blipFill>
          <a:blip r:embed="rId5"/>
          <a:srcRect t="28429" b="8679"/>
          <a:stretch>
            <a:fillRect/>
          </a:stretch>
        </p:blipFill>
        <p:spPr>
          <a:xfrm>
            <a:off x="1211292" y="1124892"/>
            <a:ext cx="9769415" cy="4608215"/>
          </a:xfrm>
          <a:prstGeom prst="rect">
            <a:avLst/>
          </a:prstGeom>
        </p:spPr>
      </p:pic>
    </p:spTree>
    <p:extLst>
      <p:ext uri="{BB962C8B-B14F-4D97-AF65-F5344CB8AC3E}">
        <p14:creationId xmlns:p14="http://schemas.microsoft.com/office/powerpoint/2010/main" val="5158705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F1CA19-2027-C8DA-BFBF-0F5DE386B7BF}"/>
            </a:ext>
          </a:extLst>
        </p:cNvPr>
        <p:cNvGrpSpPr/>
        <p:nvPr/>
      </p:nvGrpSpPr>
      <p:grpSpPr>
        <a:xfrm>
          <a:off x="0" y="0"/>
          <a:ext cx="0" cy="0"/>
          <a:chOff x="0" y="0"/>
          <a:chExt cx="0" cy="0"/>
        </a:xfrm>
      </p:grpSpPr>
      <p:pic>
        <p:nvPicPr>
          <p:cNvPr id="2" name="Image 0" descr="/home/claude/pptx_project/lsms_brand/content_bg.png">
            <a:extLst>
              <a:ext uri="{FF2B5EF4-FFF2-40B4-BE49-F238E27FC236}">
                <a16:creationId xmlns:a16="http://schemas.microsoft.com/office/drawing/2014/main" id="{9B85D48F-8EB3-231D-110B-5D7AEB2FC75A}"/>
              </a:ext>
            </a:extLst>
          </p:cNvPr>
          <p:cNvPicPr>
            <a:picLocks noChangeAspect="1"/>
          </p:cNvPicPr>
          <p:nvPr/>
        </p:nvPicPr>
        <p:blipFill>
          <a:blip r:embed="rId3"/>
          <a:stretch>
            <a:fillRect/>
          </a:stretch>
        </p:blipFill>
        <p:spPr>
          <a:xfrm>
            <a:off x="-1" y="0"/>
            <a:ext cx="12191695" cy="6858000"/>
          </a:xfrm>
          <a:prstGeom prst="rect">
            <a:avLst/>
          </a:prstGeom>
        </p:spPr>
      </p:pic>
      <p:sp>
        <p:nvSpPr>
          <p:cNvPr id="3" name="Text 0">
            <a:extLst>
              <a:ext uri="{FF2B5EF4-FFF2-40B4-BE49-F238E27FC236}">
                <a16:creationId xmlns:a16="http://schemas.microsoft.com/office/drawing/2014/main" id="{83A27891-E5DB-632A-5418-4D48CFD14101}"/>
              </a:ext>
            </a:extLst>
          </p:cNvPr>
          <p:cNvSpPr/>
          <p:nvPr/>
        </p:nvSpPr>
        <p:spPr>
          <a:xfrm>
            <a:off x="594360" y="146304"/>
            <a:ext cx="10698480" cy="658368"/>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Output: Key Metrics</a:t>
            </a:r>
            <a:endParaRPr lang="en-US" sz="3000" dirty="0"/>
          </a:p>
        </p:txBody>
      </p:sp>
      <p:pic>
        <p:nvPicPr>
          <p:cNvPr id="5" name="Picture 4">
            <a:extLst>
              <a:ext uri="{FF2B5EF4-FFF2-40B4-BE49-F238E27FC236}">
                <a16:creationId xmlns:a16="http://schemas.microsoft.com/office/drawing/2014/main" id="{D77B0CBB-043F-5A4A-1CB3-636B8B1D3D3B}"/>
              </a:ext>
            </a:extLst>
          </p:cNvPr>
          <p:cNvPicPr>
            <a:picLocks noChangeAspect="1"/>
          </p:cNvPicPr>
          <p:nvPr/>
        </p:nvPicPr>
        <p:blipFill>
          <a:blip r:embed="rId4"/>
          <a:srcRect t="10553"/>
          <a:stretch>
            <a:fillRect/>
          </a:stretch>
        </p:blipFill>
        <p:spPr>
          <a:xfrm>
            <a:off x="149027" y="2616208"/>
            <a:ext cx="6092657" cy="2643802"/>
          </a:xfrm>
          <a:prstGeom prst="rect">
            <a:avLst/>
          </a:prstGeom>
        </p:spPr>
      </p:pic>
      <p:sp>
        <p:nvSpPr>
          <p:cNvPr id="7" name="TextBox 6">
            <a:extLst>
              <a:ext uri="{FF2B5EF4-FFF2-40B4-BE49-F238E27FC236}">
                <a16:creationId xmlns:a16="http://schemas.microsoft.com/office/drawing/2014/main" id="{A92C060B-0563-22CA-6358-78C1260CEC7B}"/>
              </a:ext>
            </a:extLst>
          </p:cNvPr>
          <p:cNvSpPr txBox="1"/>
          <p:nvPr/>
        </p:nvSpPr>
        <p:spPr>
          <a:xfrm>
            <a:off x="594360" y="2033915"/>
            <a:ext cx="5501640" cy="338554"/>
          </a:xfrm>
          <a:prstGeom prst="rect">
            <a:avLst/>
          </a:prstGeom>
          <a:noFill/>
        </p:spPr>
        <p:txBody>
          <a:bodyPr wrap="square">
            <a:spAutoFit/>
          </a:bodyPr>
          <a:lstStyle/>
          <a:p>
            <a:r>
              <a:rPr lang="en-US" sz="1600" b="1" dirty="0">
                <a:solidFill>
                  <a:srgbClr val="163454"/>
                </a:solidFill>
                <a:latin typeface="Calibri" pitchFamily="34" charset="0"/>
                <a:ea typeface="Calibri" pitchFamily="34" charset="-122"/>
                <a:cs typeface="Calibri" pitchFamily="34" charset="-120"/>
              </a:rPr>
              <a:t>“FLOW” – New papers per FY using LSMS data FY09-FY26</a:t>
            </a:r>
            <a:endParaRPr lang="en-US" dirty="0"/>
          </a:p>
        </p:txBody>
      </p:sp>
      <p:sp>
        <p:nvSpPr>
          <p:cNvPr id="9" name="TextBox 8">
            <a:extLst>
              <a:ext uri="{FF2B5EF4-FFF2-40B4-BE49-F238E27FC236}">
                <a16:creationId xmlns:a16="http://schemas.microsoft.com/office/drawing/2014/main" id="{237116EC-CAF7-F500-1235-148902458ED3}"/>
              </a:ext>
            </a:extLst>
          </p:cNvPr>
          <p:cNvSpPr txBox="1"/>
          <p:nvPr/>
        </p:nvSpPr>
        <p:spPr>
          <a:xfrm>
            <a:off x="6321751" y="2033915"/>
            <a:ext cx="5207477" cy="338554"/>
          </a:xfrm>
          <a:prstGeom prst="rect">
            <a:avLst/>
          </a:prstGeom>
          <a:noFill/>
        </p:spPr>
        <p:txBody>
          <a:bodyPr wrap="square">
            <a:spAutoFit/>
          </a:bodyPr>
          <a:lstStyle/>
          <a:p>
            <a:r>
              <a:rPr lang="en-US" sz="1600" b="1" dirty="0">
                <a:solidFill>
                  <a:srgbClr val="163454"/>
                </a:solidFill>
                <a:latin typeface="Calibri" pitchFamily="34" charset="0"/>
                <a:ea typeface="Calibri" pitchFamily="34" charset="-122"/>
                <a:cs typeface="Calibri" pitchFamily="34" charset="-120"/>
              </a:rPr>
              <a:t>“SHARE” – Share of African research affiliations FY09-FY26</a:t>
            </a:r>
            <a:endParaRPr lang="en-US" dirty="0"/>
          </a:p>
        </p:txBody>
      </p:sp>
      <p:pic>
        <p:nvPicPr>
          <p:cNvPr id="11" name="Picture 10">
            <a:extLst>
              <a:ext uri="{FF2B5EF4-FFF2-40B4-BE49-F238E27FC236}">
                <a16:creationId xmlns:a16="http://schemas.microsoft.com/office/drawing/2014/main" id="{335DC3D6-71AD-E950-AA1B-775CE9ABDAB7}"/>
              </a:ext>
            </a:extLst>
          </p:cNvPr>
          <p:cNvPicPr>
            <a:picLocks noChangeAspect="1"/>
          </p:cNvPicPr>
          <p:nvPr/>
        </p:nvPicPr>
        <p:blipFill>
          <a:blip r:embed="rId5"/>
          <a:srcRect t="14160"/>
          <a:stretch>
            <a:fillRect/>
          </a:stretch>
        </p:blipFill>
        <p:spPr>
          <a:xfrm>
            <a:off x="5919209" y="2646400"/>
            <a:ext cx="6272485" cy="2643802"/>
          </a:xfrm>
          <a:prstGeom prst="rect">
            <a:avLst/>
          </a:prstGeom>
        </p:spPr>
      </p:pic>
      <p:sp>
        <p:nvSpPr>
          <p:cNvPr id="15" name="TextBox 14">
            <a:extLst>
              <a:ext uri="{FF2B5EF4-FFF2-40B4-BE49-F238E27FC236}">
                <a16:creationId xmlns:a16="http://schemas.microsoft.com/office/drawing/2014/main" id="{21036DBC-E501-2F2C-FC05-732EE79C28EC}"/>
              </a:ext>
            </a:extLst>
          </p:cNvPr>
          <p:cNvSpPr txBox="1"/>
          <p:nvPr/>
        </p:nvSpPr>
        <p:spPr>
          <a:xfrm>
            <a:off x="594360" y="1356790"/>
            <a:ext cx="7134908" cy="338554"/>
          </a:xfrm>
          <a:prstGeom prst="rect">
            <a:avLst/>
          </a:prstGeom>
          <a:noFill/>
        </p:spPr>
        <p:txBody>
          <a:bodyPr wrap="square">
            <a:spAutoFit/>
          </a:bodyPr>
          <a:lstStyle/>
          <a:p>
            <a:r>
              <a:rPr lang="en-US" sz="1600" b="1" dirty="0">
                <a:solidFill>
                  <a:srgbClr val="163454"/>
                </a:solidFill>
                <a:latin typeface="Calibri" pitchFamily="34" charset="0"/>
                <a:ea typeface="Calibri" pitchFamily="34" charset="-122"/>
                <a:cs typeface="Calibri" pitchFamily="34" charset="-120"/>
              </a:rPr>
              <a:t>“TOTAL” – Total # of publications using LSMS data (FY80-FY26): </a:t>
            </a:r>
            <a:r>
              <a:rPr lang="en-US" sz="1600" b="1" u="sng" dirty="0">
                <a:solidFill>
                  <a:srgbClr val="163454"/>
                </a:solidFill>
                <a:highlight>
                  <a:srgbClr val="C0C0C0"/>
                </a:highlight>
                <a:latin typeface="Calibri" pitchFamily="34" charset="0"/>
                <a:ea typeface="Calibri" pitchFamily="34" charset="-122"/>
                <a:cs typeface="Calibri" pitchFamily="34" charset="-120"/>
              </a:rPr>
              <a:t>7792</a:t>
            </a:r>
            <a:endParaRPr lang="en-US" b="1" u="sng" dirty="0">
              <a:highlight>
                <a:srgbClr val="C0C0C0"/>
              </a:highlight>
            </a:endParaRPr>
          </a:p>
        </p:txBody>
      </p:sp>
    </p:spTree>
    <p:extLst>
      <p:ext uri="{BB962C8B-B14F-4D97-AF65-F5344CB8AC3E}">
        <p14:creationId xmlns:p14="http://schemas.microsoft.com/office/powerpoint/2010/main" val="7790599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5F0CB2-E89C-D4B4-A6F7-45AFB66F559E}"/>
            </a:ext>
          </a:extLst>
        </p:cNvPr>
        <p:cNvGrpSpPr/>
        <p:nvPr/>
      </p:nvGrpSpPr>
      <p:grpSpPr>
        <a:xfrm>
          <a:off x="0" y="0"/>
          <a:ext cx="0" cy="0"/>
          <a:chOff x="0" y="0"/>
          <a:chExt cx="0" cy="0"/>
        </a:xfrm>
      </p:grpSpPr>
      <p:pic>
        <p:nvPicPr>
          <p:cNvPr id="2" name="Image 0" descr="/home/claude/pptx_project/lsms_brand/content_bg.png">
            <a:extLst>
              <a:ext uri="{FF2B5EF4-FFF2-40B4-BE49-F238E27FC236}">
                <a16:creationId xmlns:a16="http://schemas.microsoft.com/office/drawing/2014/main" id="{DAD5FB70-561E-AFA0-E90E-BBF155CC6971}"/>
              </a:ext>
            </a:extLst>
          </p:cNvPr>
          <p:cNvPicPr>
            <a:picLocks noChangeAspect="1"/>
          </p:cNvPicPr>
          <p:nvPr/>
        </p:nvPicPr>
        <p:blipFill>
          <a:blip r:embed="rId3"/>
          <a:stretch>
            <a:fillRect/>
          </a:stretch>
        </p:blipFill>
        <p:spPr>
          <a:xfrm>
            <a:off x="0" y="0"/>
            <a:ext cx="12191695" cy="6858000"/>
          </a:xfrm>
          <a:prstGeom prst="rect">
            <a:avLst/>
          </a:prstGeom>
        </p:spPr>
      </p:pic>
      <p:sp>
        <p:nvSpPr>
          <p:cNvPr id="3" name="Text 0">
            <a:extLst>
              <a:ext uri="{FF2B5EF4-FFF2-40B4-BE49-F238E27FC236}">
                <a16:creationId xmlns:a16="http://schemas.microsoft.com/office/drawing/2014/main" id="{67CED5AB-1B03-6821-F62E-F8620E724C56}"/>
              </a:ext>
            </a:extLst>
          </p:cNvPr>
          <p:cNvSpPr/>
          <p:nvPr/>
        </p:nvSpPr>
        <p:spPr>
          <a:xfrm>
            <a:off x="594360" y="146304"/>
            <a:ext cx="10698480" cy="658368"/>
          </a:xfrm>
          <a:prstGeom prst="rect">
            <a:avLst/>
          </a:prstGeom>
          <a:noFill/>
          <a:ln/>
        </p:spPr>
        <p:txBody>
          <a:bodyPr wrap="square" rtlCol="0" anchor="ctr"/>
          <a:lstStyle/>
          <a:p>
            <a:r>
              <a:rPr lang="en-US" sz="3000" b="1" dirty="0">
                <a:solidFill>
                  <a:srgbClr val="FFFFFF"/>
                </a:solidFill>
                <a:latin typeface="Calibri" pitchFamily="34" charset="0"/>
                <a:ea typeface="Calibri" pitchFamily="34" charset="-122"/>
                <a:cs typeface="Calibri" pitchFamily="34" charset="-120"/>
              </a:rPr>
              <a:t>Exclusion Filter (Gate “2+”)</a:t>
            </a:r>
            <a:endParaRPr lang="en-US" sz="3000" dirty="0"/>
          </a:p>
        </p:txBody>
      </p:sp>
      <p:sp>
        <p:nvSpPr>
          <p:cNvPr id="5" name="Shape 2">
            <a:extLst>
              <a:ext uri="{FF2B5EF4-FFF2-40B4-BE49-F238E27FC236}">
                <a16:creationId xmlns:a16="http://schemas.microsoft.com/office/drawing/2014/main" id="{696CA297-938D-BACC-0996-E32C89AA8B73}"/>
              </a:ext>
            </a:extLst>
          </p:cNvPr>
          <p:cNvSpPr/>
          <p:nvPr/>
        </p:nvSpPr>
        <p:spPr>
          <a:xfrm>
            <a:off x="502920" y="1097280"/>
            <a:ext cx="11183112" cy="4564380"/>
          </a:xfrm>
          <a:prstGeom prst="roundRect">
            <a:avLst>
              <a:gd name="adj" fmla="val 1132"/>
            </a:avLst>
          </a:prstGeom>
          <a:solidFill>
            <a:srgbClr val="FFFFFF"/>
          </a:solidFill>
          <a:ln w="9525">
            <a:solidFill>
              <a:srgbClr val="C7D2DD"/>
            </a:solidFill>
            <a:prstDash val="solid"/>
          </a:ln>
          <a:effectLst>
            <a:outerShdw blurRad="127000" dist="38100" dir="5400000" algn="bl" rotWithShape="0">
              <a:srgbClr val="000000">
                <a:alpha val="12000"/>
              </a:srgbClr>
            </a:outerShdw>
          </a:effectLst>
        </p:spPr>
        <p:txBody>
          <a:bodyPr/>
          <a:lstStyle/>
          <a:p>
            <a:endParaRPr lang="en-US"/>
          </a:p>
        </p:txBody>
      </p:sp>
      <p:sp>
        <p:nvSpPr>
          <p:cNvPr id="7" name="Shape 3">
            <a:extLst>
              <a:ext uri="{FF2B5EF4-FFF2-40B4-BE49-F238E27FC236}">
                <a16:creationId xmlns:a16="http://schemas.microsoft.com/office/drawing/2014/main" id="{61617BF0-7B64-FB1A-346E-471F99E61983}"/>
              </a:ext>
            </a:extLst>
          </p:cNvPr>
          <p:cNvSpPr/>
          <p:nvPr/>
        </p:nvSpPr>
        <p:spPr>
          <a:xfrm>
            <a:off x="731520" y="1353312"/>
            <a:ext cx="64008" cy="201168"/>
          </a:xfrm>
          <a:prstGeom prst="rect">
            <a:avLst/>
          </a:prstGeom>
          <a:solidFill>
            <a:srgbClr val="8C2331"/>
          </a:solidFill>
          <a:ln/>
        </p:spPr>
        <p:txBody>
          <a:bodyPr/>
          <a:lstStyle/>
          <a:p>
            <a:endParaRPr lang="en-US"/>
          </a:p>
        </p:txBody>
      </p:sp>
      <p:sp>
        <p:nvSpPr>
          <p:cNvPr id="9" name="Text 4">
            <a:extLst>
              <a:ext uri="{FF2B5EF4-FFF2-40B4-BE49-F238E27FC236}">
                <a16:creationId xmlns:a16="http://schemas.microsoft.com/office/drawing/2014/main" id="{1D5D7D68-964B-5CA4-342A-A6ECD5F8340B}"/>
              </a:ext>
            </a:extLst>
          </p:cNvPr>
          <p:cNvSpPr/>
          <p:nvPr/>
        </p:nvSpPr>
        <p:spPr>
          <a:xfrm>
            <a:off x="896112" y="1325880"/>
            <a:ext cx="7315200" cy="274320"/>
          </a:xfrm>
          <a:prstGeom prst="rect">
            <a:avLst/>
          </a:prstGeom>
          <a:noFill/>
          <a:ln/>
        </p:spPr>
        <p:txBody>
          <a:bodyPr wrap="square" rtlCol="0" anchor="ctr"/>
          <a:lstStyle/>
          <a:p>
            <a:pPr marL="0" indent="0">
              <a:buNone/>
            </a:pPr>
            <a:r>
              <a:rPr lang="en-US" sz="1250" b="1" kern="0" spc="100" dirty="0">
                <a:solidFill>
                  <a:srgbClr val="004370"/>
                </a:solidFill>
                <a:latin typeface="Calibri" pitchFamily="34" charset="0"/>
                <a:ea typeface="Calibri" pitchFamily="34" charset="-122"/>
                <a:cs typeface="Calibri" pitchFamily="34" charset="-120"/>
              </a:rPr>
              <a:t>COMMON FALSE POSITIVES</a:t>
            </a:r>
            <a:endParaRPr lang="en-US" sz="1250" dirty="0"/>
          </a:p>
        </p:txBody>
      </p:sp>
      <p:sp>
        <p:nvSpPr>
          <p:cNvPr id="11" name="Text 5">
            <a:extLst>
              <a:ext uri="{FF2B5EF4-FFF2-40B4-BE49-F238E27FC236}">
                <a16:creationId xmlns:a16="http://schemas.microsoft.com/office/drawing/2014/main" id="{B8578602-35AD-7A2C-E860-41B30A6163FB}"/>
              </a:ext>
            </a:extLst>
          </p:cNvPr>
          <p:cNvSpPr/>
          <p:nvPr/>
        </p:nvSpPr>
        <p:spPr>
          <a:xfrm>
            <a:off x="777240" y="1746504"/>
            <a:ext cx="2560320" cy="914400"/>
          </a:xfrm>
          <a:prstGeom prst="rect">
            <a:avLst/>
          </a:prstGeom>
          <a:noFill/>
          <a:ln/>
        </p:spPr>
        <p:txBody>
          <a:bodyPr wrap="square" rtlCol="0" anchor="t"/>
          <a:lstStyle/>
          <a:p>
            <a:pPr marL="0" indent="0">
              <a:buNone/>
            </a:pPr>
            <a:r>
              <a:rPr lang="en-US" sz="1400" b="1" dirty="0">
                <a:solidFill>
                  <a:srgbClr val="004370"/>
                </a:solidFill>
                <a:latin typeface="Calibri" pitchFamily="34" charset="0"/>
                <a:ea typeface="Calibri" pitchFamily="34" charset="-122"/>
                <a:cs typeface="Calibri" pitchFamily="34" charset="-120"/>
              </a:rPr>
              <a:t>Transitive citation</a:t>
            </a:r>
            <a:endParaRPr lang="en-US" sz="1400" dirty="0"/>
          </a:p>
        </p:txBody>
      </p:sp>
      <p:sp>
        <p:nvSpPr>
          <p:cNvPr id="13" name="Text 6">
            <a:extLst>
              <a:ext uri="{FF2B5EF4-FFF2-40B4-BE49-F238E27FC236}">
                <a16:creationId xmlns:a16="http://schemas.microsoft.com/office/drawing/2014/main" id="{7DB88AD4-664D-3F67-030D-E48319D033A0}"/>
              </a:ext>
            </a:extLst>
          </p:cNvPr>
          <p:cNvSpPr/>
          <p:nvPr/>
        </p:nvSpPr>
        <p:spPr>
          <a:xfrm>
            <a:off x="3474720" y="1746504"/>
            <a:ext cx="7863840" cy="914400"/>
          </a:xfrm>
          <a:prstGeom prst="rect">
            <a:avLst/>
          </a:prstGeom>
          <a:noFill/>
          <a:ln/>
        </p:spPr>
        <p:txBody>
          <a:bodyPr wrap="square" rtlCol="0" anchor="t"/>
          <a:lstStyle/>
          <a:p>
            <a:pPr marL="0" indent="0">
              <a:buNone/>
            </a:pPr>
            <a:r>
              <a:rPr lang="en-US" sz="1400" dirty="0">
                <a:solidFill>
                  <a:srgbClr val="222222"/>
                </a:solidFill>
                <a:latin typeface="Calibri" pitchFamily="34" charset="0"/>
                <a:ea typeface="Calibri" pitchFamily="34" charset="-122"/>
                <a:cs typeface="Calibri" pitchFamily="34" charset="-120"/>
              </a:rPr>
              <a:t>The paper cites another paper that uses LSMS data, without touching the microdata itself. The survey name enters only through a second order reference.</a:t>
            </a:r>
            <a:endParaRPr lang="en-US" sz="1400" dirty="0"/>
          </a:p>
        </p:txBody>
      </p:sp>
      <p:sp>
        <p:nvSpPr>
          <p:cNvPr id="15" name="Shape 7">
            <a:extLst>
              <a:ext uri="{FF2B5EF4-FFF2-40B4-BE49-F238E27FC236}">
                <a16:creationId xmlns:a16="http://schemas.microsoft.com/office/drawing/2014/main" id="{9CE61B24-407A-8FEB-56FE-A767C67260EA}"/>
              </a:ext>
            </a:extLst>
          </p:cNvPr>
          <p:cNvSpPr/>
          <p:nvPr/>
        </p:nvSpPr>
        <p:spPr>
          <a:xfrm>
            <a:off x="777240" y="2642616"/>
            <a:ext cx="10607040" cy="0"/>
          </a:xfrm>
          <a:prstGeom prst="line">
            <a:avLst/>
          </a:prstGeom>
          <a:noFill/>
          <a:ln w="9525">
            <a:solidFill>
              <a:srgbClr val="C7D2DD"/>
            </a:solidFill>
            <a:prstDash val="solid"/>
          </a:ln>
        </p:spPr>
        <p:txBody>
          <a:bodyPr/>
          <a:lstStyle/>
          <a:p>
            <a:endParaRPr lang="en-US" sz="1400"/>
          </a:p>
        </p:txBody>
      </p:sp>
      <p:sp>
        <p:nvSpPr>
          <p:cNvPr id="17" name="Text 8">
            <a:extLst>
              <a:ext uri="{FF2B5EF4-FFF2-40B4-BE49-F238E27FC236}">
                <a16:creationId xmlns:a16="http://schemas.microsoft.com/office/drawing/2014/main" id="{F59AB100-BB92-D6FF-0D30-8D5BDCF7410D}"/>
              </a:ext>
            </a:extLst>
          </p:cNvPr>
          <p:cNvSpPr/>
          <p:nvPr/>
        </p:nvSpPr>
        <p:spPr>
          <a:xfrm>
            <a:off x="777240" y="2660904"/>
            <a:ext cx="2560320" cy="914400"/>
          </a:xfrm>
          <a:prstGeom prst="rect">
            <a:avLst/>
          </a:prstGeom>
          <a:noFill/>
          <a:ln/>
        </p:spPr>
        <p:txBody>
          <a:bodyPr wrap="square" rtlCol="0" anchor="t"/>
          <a:lstStyle/>
          <a:p>
            <a:pPr marL="0" indent="0">
              <a:buNone/>
            </a:pPr>
            <a:r>
              <a:rPr lang="en-US" sz="1400" b="1" dirty="0">
                <a:solidFill>
                  <a:srgbClr val="004370"/>
                </a:solidFill>
                <a:latin typeface="Calibri" pitchFamily="34" charset="0"/>
                <a:ea typeface="Calibri" pitchFamily="34" charset="-122"/>
                <a:cs typeface="Calibri" pitchFamily="34" charset="-120"/>
              </a:rPr>
              <a:t>Survey or meta-analysis inclusion</a:t>
            </a:r>
            <a:endParaRPr lang="en-US" sz="1400" dirty="0"/>
          </a:p>
        </p:txBody>
      </p:sp>
      <p:sp>
        <p:nvSpPr>
          <p:cNvPr id="19" name="Text 9">
            <a:extLst>
              <a:ext uri="{FF2B5EF4-FFF2-40B4-BE49-F238E27FC236}">
                <a16:creationId xmlns:a16="http://schemas.microsoft.com/office/drawing/2014/main" id="{00633CF1-88A1-F26D-7DE2-59A52D1D011A}"/>
              </a:ext>
            </a:extLst>
          </p:cNvPr>
          <p:cNvSpPr/>
          <p:nvPr/>
        </p:nvSpPr>
        <p:spPr>
          <a:xfrm>
            <a:off x="3474720" y="2660904"/>
            <a:ext cx="7863840" cy="914400"/>
          </a:xfrm>
          <a:prstGeom prst="rect">
            <a:avLst/>
          </a:prstGeom>
          <a:noFill/>
          <a:ln/>
        </p:spPr>
        <p:txBody>
          <a:bodyPr wrap="square" rtlCol="0" anchor="t"/>
          <a:lstStyle/>
          <a:p>
            <a:pPr marL="0" indent="0">
              <a:buNone/>
            </a:pPr>
            <a:r>
              <a:rPr lang="en-US" sz="1400" dirty="0">
                <a:solidFill>
                  <a:srgbClr val="222222"/>
                </a:solidFill>
                <a:latin typeface="Calibri" pitchFamily="34" charset="0"/>
                <a:ea typeface="Calibri" pitchFamily="34" charset="-122"/>
                <a:cs typeface="Calibri" pitchFamily="34" charset="-120"/>
              </a:rPr>
              <a:t>A broader literature review lists an LSMS-using paper among many others, without analyzing the microdata directly. The review itself is not a data user.</a:t>
            </a:r>
            <a:endParaRPr lang="en-US" sz="1400" dirty="0"/>
          </a:p>
        </p:txBody>
      </p:sp>
      <p:sp>
        <p:nvSpPr>
          <p:cNvPr id="21" name="Shape 10">
            <a:extLst>
              <a:ext uri="{FF2B5EF4-FFF2-40B4-BE49-F238E27FC236}">
                <a16:creationId xmlns:a16="http://schemas.microsoft.com/office/drawing/2014/main" id="{B4FC22B9-FBEA-4546-7ED0-F590EC66CD8E}"/>
              </a:ext>
            </a:extLst>
          </p:cNvPr>
          <p:cNvSpPr/>
          <p:nvPr/>
        </p:nvSpPr>
        <p:spPr>
          <a:xfrm>
            <a:off x="777240" y="3557016"/>
            <a:ext cx="10607040" cy="0"/>
          </a:xfrm>
          <a:prstGeom prst="line">
            <a:avLst/>
          </a:prstGeom>
          <a:noFill/>
          <a:ln w="9525">
            <a:solidFill>
              <a:srgbClr val="C7D2DD"/>
            </a:solidFill>
            <a:prstDash val="solid"/>
          </a:ln>
        </p:spPr>
        <p:txBody>
          <a:bodyPr/>
          <a:lstStyle/>
          <a:p>
            <a:endParaRPr lang="en-US" sz="1400"/>
          </a:p>
        </p:txBody>
      </p:sp>
      <p:sp>
        <p:nvSpPr>
          <p:cNvPr id="23" name="Text 11">
            <a:extLst>
              <a:ext uri="{FF2B5EF4-FFF2-40B4-BE49-F238E27FC236}">
                <a16:creationId xmlns:a16="http://schemas.microsoft.com/office/drawing/2014/main" id="{CE7D2900-2EE9-438E-280B-878CE84E0F31}"/>
              </a:ext>
            </a:extLst>
          </p:cNvPr>
          <p:cNvSpPr/>
          <p:nvPr/>
        </p:nvSpPr>
        <p:spPr>
          <a:xfrm>
            <a:off x="777240" y="3575304"/>
            <a:ext cx="2560320" cy="914400"/>
          </a:xfrm>
          <a:prstGeom prst="rect">
            <a:avLst/>
          </a:prstGeom>
          <a:noFill/>
          <a:ln/>
        </p:spPr>
        <p:txBody>
          <a:bodyPr wrap="square" rtlCol="0" anchor="t"/>
          <a:lstStyle/>
          <a:p>
            <a:pPr marL="0" indent="0">
              <a:buNone/>
            </a:pPr>
            <a:r>
              <a:rPr lang="en-US" sz="1400" b="1" dirty="0">
                <a:solidFill>
                  <a:srgbClr val="004370"/>
                </a:solidFill>
                <a:latin typeface="Calibri" pitchFamily="34" charset="0"/>
                <a:ea typeface="Calibri" pitchFamily="34" charset="-122"/>
                <a:cs typeface="Calibri" pitchFamily="34" charset="-120"/>
              </a:rPr>
              <a:t>Negative or contrastive mention</a:t>
            </a:r>
            <a:endParaRPr lang="en-US" sz="1400" dirty="0"/>
          </a:p>
        </p:txBody>
      </p:sp>
      <p:sp>
        <p:nvSpPr>
          <p:cNvPr id="25" name="Text 12">
            <a:extLst>
              <a:ext uri="{FF2B5EF4-FFF2-40B4-BE49-F238E27FC236}">
                <a16:creationId xmlns:a16="http://schemas.microsoft.com/office/drawing/2014/main" id="{CE0ED2E5-7400-49E5-40F9-CAA1AD205F25}"/>
              </a:ext>
            </a:extLst>
          </p:cNvPr>
          <p:cNvSpPr/>
          <p:nvPr/>
        </p:nvSpPr>
        <p:spPr>
          <a:xfrm>
            <a:off x="3474720" y="3575304"/>
            <a:ext cx="7863840" cy="914400"/>
          </a:xfrm>
          <a:prstGeom prst="rect">
            <a:avLst/>
          </a:prstGeom>
          <a:noFill/>
          <a:ln/>
        </p:spPr>
        <p:txBody>
          <a:bodyPr wrap="square" rtlCol="0" anchor="t"/>
          <a:lstStyle/>
          <a:p>
            <a:pPr marL="0" indent="0">
              <a:buNone/>
            </a:pPr>
            <a:r>
              <a:rPr lang="en-US" sz="1400" dirty="0">
                <a:solidFill>
                  <a:srgbClr val="222222"/>
                </a:solidFill>
                <a:latin typeface="Calibri" pitchFamily="34" charset="0"/>
                <a:ea typeface="Calibri" pitchFamily="34" charset="-122"/>
                <a:cs typeface="Calibri" pitchFamily="34" charset="-120"/>
              </a:rPr>
              <a:t>The survey is named only to argue against it or contrast with it, for example "despite LSMS efforts." The mention signals awareness, not use.</a:t>
            </a:r>
            <a:endParaRPr lang="en-US" sz="1400" dirty="0"/>
          </a:p>
        </p:txBody>
      </p:sp>
      <p:sp>
        <p:nvSpPr>
          <p:cNvPr id="29" name="Shape 13">
            <a:extLst>
              <a:ext uri="{FF2B5EF4-FFF2-40B4-BE49-F238E27FC236}">
                <a16:creationId xmlns:a16="http://schemas.microsoft.com/office/drawing/2014/main" id="{C8E038F8-6EB0-7229-B1CF-0EFFC4185127}"/>
              </a:ext>
            </a:extLst>
          </p:cNvPr>
          <p:cNvSpPr/>
          <p:nvPr/>
        </p:nvSpPr>
        <p:spPr>
          <a:xfrm>
            <a:off x="777240" y="4471416"/>
            <a:ext cx="10607040" cy="0"/>
          </a:xfrm>
          <a:prstGeom prst="line">
            <a:avLst/>
          </a:prstGeom>
          <a:noFill/>
          <a:ln w="9525">
            <a:solidFill>
              <a:srgbClr val="C7D2DD"/>
            </a:solidFill>
            <a:prstDash val="solid"/>
          </a:ln>
        </p:spPr>
        <p:txBody>
          <a:bodyPr/>
          <a:lstStyle/>
          <a:p>
            <a:endParaRPr lang="en-US" sz="1400"/>
          </a:p>
        </p:txBody>
      </p:sp>
      <p:sp>
        <p:nvSpPr>
          <p:cNvPr id="33" name="Text 14">
            <a:extLst>
              <a:ext uri="{FF2B5EF4-FFF2-40B4-BE49-F238E27FC236}">
                <a16:creationId xmlns:a16="http://schemas.microsoft.com/office/drawing/2014/main" id="{46293044-FD4F-25EB-2723-79E3940B3CC4}"/>
              </a:ext>
            </a:extLst>
          </p:cNvPr>
          <p:cNvSpPr/>
          <p:nvPr/>
        </p:nvSpPr>
        <p:spPr>
          <a:xfrm>
            <a:off x="777240" y="4489704"/>
            <a:ext cx="2560320" cy="914400"/>
          </a:xfrm>
          <a:prstGeom prst="rect">
            <a:avLst/>
          </a:prstGeom>
          <a:noFill/>
          <a:ln/>
        </p:spPr>
        <p:txBody>
          <a:bodyPr wrap="square" rtlCol="0" anchor="t"/>
          <a:lstStyle/>
          <a:p>
            <a:pPr marL="0" indent="0">
              <a:buNone/>
            </a:pPr>
            <a:r>
              <a:rPr lang="en-US" sz="1400" b="1" dirty="0">
                <a:solidFill>
                  <a:srgbClr val="004370"/>
                </a:solidFill>
                <a:latin typeface="Calibri" pitchFamily="34" charset="0"/>
                <a:ea typeface="Calibri" pitchFamily="34" charset="-122"/>
                <a:cs typeface="Calibri" pitchFamily="34" charset="-120"/>
              </a:rPr>
              <a:t>Unsupported data citation</a:t>
            </a:r>
            <a:endParaRPr lang="en-US" sz="1400" dirty="0"/>
          </a:p>
        </p:txBody>
      </p:sp>
      <p:sp>
        <p:nvSpPr>
          <p:cNvPr id="37" name="Text 15">
            <a:extLst>
              <a:ext uri="{FF2B5EF4-FFF2-40B4-BE49-F238E27FC236}">
                <a16:creationId xmlns:a16="http://schemas.microsoft.com/office/drawing/2014/main" id="{82A66177-1A2F-A898-61E4-F48CEAB5034F}"/>
              </a:ext>
            </a:extLst>
          </p:cNvPr>
          <p:cNvSpPr/>
          <p:nvPr/>
        </p:nvSpPr>
        <p:spPr>
          <a:xfrm>
            <a:off x="3474720" y="4489704"/>
            <a:ext cx="7863840" cy="914400"/>
          </a:xfrm>
          <a:prstGeom prst="rect">
            <a:avLst/>
          </a:prstGeom>
          <a:noFill/>
          <a:ln/>
        </p:spPr>
        <p:txBody>
          <a:bodyPr wrap="square" rtlCol="0" anchor="t"/>
          <a:lstStyle/>
          <a:p>
            <a:pPr marL="0" indent="0">
              <a:buNone/>
            </a:pPr>
            <a:r>
              <a:rPr lang="en-US" sz="1400" dirty="0">
                <a:solidFill>
                  <a:srgbClr val="222222"/>
                </a:solidFill>
                <a:latin typeface="Calibri" pitchFamily="34" charset="0"/>
                <a:ea typeface="Calibri" pitchFamily="34" charset="-122"/>
                <a:cs typeface="Calibri" pitchFamily="34" charset="-120"/>
              </a:rPr>
              <a:t>The paper lists the dataset as a source but shows no evidence of engaging with it, sometimes a sign the citation was generated without ever using the data.</a:t>
            </a:r>
            <a:endParaRPr lang="en-US" sz="1400" dirty="0"/>
          </a:p>
        </p:txBody>
      </p:sp>
    </p:spTree>
    <p:extLst>
      <p:ext uri="{BB962C8B-B14F-4D97-AF65-F5344CB8AC3E}">
        <p14:creationId xmlns:p14="http://schemas.microsoft.com/office/powerpoint/2010/main" val="31061635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170</TotalTime>
  <Words>6673</Words>
  <Application>Microsoft Office PowerPoint</Application>
  <PresentationFormat>Widescreen</PresentationFormat>
  <Paragraphs>193</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LSMS Research Impact Tracking Pipeline</dc:title>
  <dc:subject>PptxGenJS Presentation</dc:subject>
  <dc:creator>LSMS Team</dc:creator>
  <cp:lastModifiedBy>Dornyei, Ben</cp:lastModifiedBy>
  <cp:revision>7</cp:revision>
  <dcterms:created xsi:type="dcterms:W3CDTF">2026-08-04T19:53:04Z</dcterms:created>
  <dcterms:modified xsi:type="dcterms:W3CDTF">2026-08-05T14:58:00Z</dcterms:modified>
</cp:coreProperties>
</file>